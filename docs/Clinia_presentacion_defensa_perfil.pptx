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una idea simple: Clinia no busca reemplazar al médico ni al hospital.,El proyecto resuelve la dispersión de información médica personal mediante un historial longitudinal controlado por el usuario.,La IA se plantea como apoyo informativo y no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Defender que el problema no es que no existan datos, sino que están separados.
Clinia trabaja sobre la información que el usuario conserva y administra.
El foco es continuidad informativa y preparación para consultas.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primero el problema central, después causas y efectos.
La pregunta evita prometer diagnóstico o interoperabilidad automática.
La solución debe ser segura, longitudinal y accesible.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objetivo general sin extenderse.
Luego resumir los objetivos específicos como módulos verificables del prototipo.
La defensa debe insistir en que todo objetivo está acotado a una función implementable.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vende la propuesta de forma concreta.
Explicar cada módulo como una pieza de un flujo único.
No presentar la IA como motor principal; es complemento después de organizar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diapositiva defensiva: evita que el tribunal entienda el proyecto como sistema clínico oficial.
Remarcar que es un prototipo académico y que sus límites son parte del diseño responsable.
La primera versión prioriza seguridad, organización y validación de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IA se integra después de tener controles de autorización y minimización.
El sistema no automatiza revisión de todo el historial.
Toda salida debe ser informativa, fechada y limitada.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Defender la arquitectura por separación de responsabilidades.
El cliente no llama directamente a la IA; todo pasa por backend.
Los documentos no se guardan dentro de la base transaccional, solo metadatos y permisos.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seguridad no es un extra, sino requisito transversal.
Mencionar autorización por recurso como respuesta a exposición accidental.
La trazabilidad permite saber qué se hizo y cuándo, especialmente en análisis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la metodología mide uso, comprensión y funcionamiento.
La evaluación no busca probar impacto clínico ni eficacia terapéutica.
La rúbrica de IA se aplica sobre datos ficticios o sintéticos para reducir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cada actividad; explicar la lógica temporal.
El desarrollo se apoya en Kanban y estabilización progresiva.
Los meses pueden ajustarse al calendario académico sin modificar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en menos de un minuto.
Enfatizar tres ideas: centralización, seguridad y IA limitada.
Luego pasar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INIA_MASTER">
    <p:bg>
      <p:bgPr>
        <a:solidFill>
          <a:srgbClr val="08060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Shape 2"/>
          <p:cNvSpPr/>
          <p:nvPr/>
        </p:nvSpPr>
        <p:spPr>
          <a:xfrm>
            <a:off x="6949440" y="777240"/>
            <a:ext cx="4114800" cy="4114800"/>
          </a:xfrm>
          <a:prstGeom prst="roundRect">
            <a:avLst>
              <a:gd name="adj" fmla="val 2667"/>
            </a:avLst>
          </a:prstGeom>
          <a:solidFill>
            <a:srgbClr val="15111D"/>
          </a:solidFill>
          <a:ln w="12700">
            <a:solidFill>
              <a:srgbClr val="2B2237"/>
            </a:solidFill>
            <a:prstDash val="solid"/>
          </a:ln>
        </p:spPr>
      </p:sp>
      <p:pic>
        <p:nvPicPr>
          <p:cNvPr id="5" name="Image 0" descr="/mnt/data/clinia-logo(1).png">    </p:cNvPr>
          <p:cNvPicPr>
            <a:picLocks noChangeAspect="1"/>
          </p:cNvPicPr>
          <p:nvPr/>
        </p:nvPicPr>
        <p:blipFill>
          <a:blip r:embed="rId1"/>
          <a:stretch>
            <a:fillRect/>
          </a:stretch>
        </p:blipFill>
        <p:spPr>
          <a:xfrm>
            <a:off x="7726680" y="1389888"/>
            <a:ext cx="2560320" cy="2560320"/>
          </a:xfrm>
          <a:prstGeom prst="rect">
            <a:avLst/>
          </a:prstGeom>
        </p:spPr>
      </p:pic>
      <p:sp>
        <p:nvSpPr>
          <p:cNvPr id="6" name="Text 3"/>
          <p:cNvSpPr/>
          <p:nvPr/>
        </p:nvSpPr>
        <p:spPr>
          <a:xfrm>
            <a:off x="658368" y="822960"/>
            <a:ext cx="4114800" cy="384048"/>
          </a:xfrm>
          <a:prstGeom prst="rect">
            <a:avLst/>
          </a:prstGeom>
          <a:noFill/>
          <a:ln/>
        </p:spPr>
        <p:txBody>
          <a:bodyPr wrap="square" lIns="0" tIns="0" rIns="0" bIns="0" rtlCol="0" anchor="ctr">
            <a:normAutofit/>
          </a:bodyPr>
          <a:lstStyle/>
          <a:p>
            <a:pPr indent="0" marL="0">
              <a:buNone/>
            </a:pPr>
            <a:r>
              <a:rPr lang="en-US" sz="2500" b="1" dirty="0">
                <a:solidFill>
                  <a:srgbClr val="9B2CFF"/>
                </a:solidFill>
                <a:latin typeface="Manrope" pitchFamily="34" charset="0"/>
                <a:ea typeface="Manrope" pitchFamily="34" charset="-122"/>
                <a:cs typeface="Manrope" pitchFamily="34" charset="-120"/>
              </a:rPr>
              <a:t>CLINIA</a:t>
            </a:r>
            <a:endParaRPr lang="en-US" sz="2500" dirty="0"/>
          </a:p>
        </p:txBody>
      </p:sp>
      <p:sp>
        <p:nvSpPr>
          <p:cNvPr id="7" name="Text 4"/>
          <p:cNvSpPr/>
          <p:nvPr/>
        </p:nvSpPr>
        <p:spPr>
          <a:xfrm>
            <a:off x="658368" y="1508760"/>
            <a:ext cx="5742432" cy="1828800"/>
          </a:xfrm>
          <a:prstGeom prst="rect">
            <a:avLst/>
          </a:prstGeom>
          <a:noFill/>
          <a:ln/>
        </p:spPr>
        <p:txBody>
          <a:bodyPr wrap="square" lIns="0" tIns="0" rIns="0" bIns="0" rtlCol="0" anchor="ctr">
            <a:normAutofit/>
          </a:bodyPr>
          <a:lstStyle/>
          <a:p>
            <a:pPr indent="0" marL="0">
              <a:buNone/>
            </a:pPr>
            <a:r>
              <a:rPr lang="en-US" sz="2500" b="1" dirty="0">
                <a:solidFill>
                  <a:srgbClr val="D2CADC"/>
                </a:solidFill>
                <a:latin typeface="Manrope" pitchFamily="34" charset="0"/>
                <a:ea typeface="Manrope" pitchFamily="34" charset="-122"/>
                <a:cs typeface="Manrope" pitchFamily="34" charset="-120"/>
              </a:rPr>
              <a:t>Sistema multiplataforma de historia clínica personal para Android y Web, asistido por inteligencia artificial para la revisión de información de salud</a:t>
            </a:r>
            <a:endParaRPr lang="en-US" sz="2500" dirty="0"/>
          </a:p>
        </p:txBody>
      </p:sp>
      <p:sp>
        <p:nvSpPr>
          <p:cNvPr id="8" name="Shape 5"/>
          <p:cNvSpPr/>
          <p:nvPr/>
        </p:nvSpPr>
        <p:spPr>
          <a:xfrm>
            <a:off x="658368" y="3703320"/>
            <a:ext cx="1737360" cy="0"/>
          </a:xfrm>
          <a:prstGeom prst="line">
            <a:avLst/>
          </a:prstGeom>
          <a:noFill/>
          <a:ln w="38100">
            <a:solidFill>
              <a:srgbClr val="9B2CFF"/>
            </a:solidFill>
            <a:prstDash val="solid"/>
          </a:ln>
        </p:spPr>
      </p:sp>
      <p:sp>
        <p:nvSpPr>
          <p:cNvPr id="9" name="Text 6"/>
          <p:cNvSpPr/>
          <p:nvPr/>
        </p:nvSpPr>
        <p:spPr>
          <a:xfrm>
            <a:off x="658368" y="4041648"/>
            <a:ext cx="4389120" cy="274320"/>
          </a:xfrm>
          <a:prstGeom prst="rect">
            <a:avLst/>
          </a:prstGeom>
          <a:noFill/>
          <a:ln/>
        </p:spPr>
        <p:txBody>
          <a:bodyPr wrap="square" lIns="0" tIns="0" rIns="0" bIns="0" rtlCol="0" anchor="ctr"/>
          <a:lstStyle/>
          <a:p>
            <a:pPr indent="0" marL="0">
              <a:buNone/>
            </a:pPr>
            <a:r>
              <a:rPr lang="en-US" sz="1300" b="1" dirty="0">
                <a:solidFill>
                  <a:srgbClr val="C084FC"/>
                </a:solidFill>
                <a:latin typeface="Manrope" pitchFamily="34" charset="0"/>
                <a:ea typeface="Manrope" pitchFamily="34" charset="-122"/>
                <a:cs typeface="Manrope" pitchFamily="34" charset="-120"/>
              </a:rPr>
              <a:t>Perfil de Proyecto de Grado</a:t>
            </a:r>
            <a:endParaRPr lang="en-US" sz="1300" dirty="0"/>
          </a:p>
        </p:txBody>
      </p:sp>
      <p:sp>
        <p:nvSpPr>
          <p:cNvPr id="10" name="Text 7"/>
          <p:cNvSpPr/>
          <p:nvPr/>
        </p:nvSpPr>
        <p:spPr>
          <a:xfrm>
            <a:off x="658368" y="4526280"/>
            <a:ext cx="5029200" cy="658368"/>
          </a:xfrm>
          <a:prstGeom prst="rect">
            <a:avLst/>
          </a:prstGeom>
          <a:noFill/>
          <a:ln/>
        </p:spPr>
        <p:txBody>
          <a:bodyPr wrap="square" lIns="0" tIns="0" rIns="0" bIns="0" rtlCol="0" anchor="ctr">
            <a:normAutofit/>
          </a:bodyPr>
          <a:lstStyle/>
          <a:p>
            <a:pPr indent="0" marL="0">
              <a:buNone/>
            </a:pPr>
            <a:r>
              <a:rPr lang="en-US" sz="1100" dirty="0">
                <a:solidFill>
                  <a:srgbClr val="9B91A8"/>
                </a:solidFill>
                <a:latin typeface="Manrope" pitchFamily="34" charset="0"/>
                <a:ea typeface="Manrope" pitchFamily="34" charset="-122"/>
                <a:cs typeface="Manrope" pitchFamily="34" charset="-120"/>
              </a:rPr>
              <a:t>Postulante: David Abdul Achá Gandarillas</a:t>
            </a:r>
            <a:endParaRPr lang="en-US" sz="1100" dirty="0"/>
          </a:p>
          <a:p>
            <a:pPr indent="0" marL="0">
              <a:buNone/>
            </a:pPr>
            <a:r>
              <a:rPr lang="en-US" sz="1100" dirty="0">
                <a:solidFill>
                  <a:srgbClr val="9B91A8"/>
                </a:solidFill>
                <a:latin typeface="Manrope" pitchFamily="34" charset="0"/>
                <a:ea typeface="Manrope" pitchFamily="34" charset="-122"/>
                <a:cs typeface="Manrope" pitchFamily="34" charset="-120"/>
              </a:rPr>
              <a:t>Tutor: Magaly Gómez Ugarte</a:t>
            </a:r>
            <a:endParaRPr lang="en-US" sz="1100" dirty="0"/>
          </a:p>
          <a:p>
            <a:pPr indent="0" marL="0">
              <a:buNone/>
            </a:pPr>
            <a:r>
              <a:rPr lang="en-US" sz="1100" dirty="0">
                <a:solidFill>
                  <a:srgbClr val="9B91A8"/>
                </a:solidFill>
                <a:latin typeface="Manrope" pitchFamily="34" charset="0"/>
                <a:ea typeface="Manrope" pitchFamily="34" charset="-122"/>
                <a:cs typeface="Manrope" pitchFamily="34" charset="-120"/>
              </a:rPr>
              <a:t>Universidad del Valle · Cochabamba, Bolivia · 2026</a:t>
            </a:r>
            <a:endParaRPr lang="en-US" sz="1100" dirty="0"/>
          </a:p>
        </p:txBody>
      </p:sp>
      <p:sp>
        <p:nvSpPr>
          <p:cNvPr id="11" name="Text 8"/>
          <p:cNvSpPr/>
          <p:nvPr/>
        </p:nvSpPr>
        <p:spPr>
          <a:xfrm>
            <a:off x="7479792" y="5138928"/>
            <a:ext cx="3063240" cy="256032"/>
          </a:xfrm>
          <a:prstGeom prst="rect">
            <a:avLst/>
          </a:prstGeom>
          <a:noFill/>
          <a:ln/>
        </p:spPr>
        <p:txBody>
          <a:bodyPr wrap="square" lIns="0" tIns="0" rIns="0" bIns="0" rtlCol="0" anchor="ctr"/>
          <a:lstStyle/>
          <a:p>
            <a:pPr algn="ctr" indent="0" marL="0">
              <a:buNone/>
            </a:pPr>
            <a:r>
              <a:rPr lang="en-US" sz="1100" b="1" dirty="0">
                <a:solidFill>
                  <a:srgbClr val="9B91A8"/>
                </a:solidFill>
                <a:latin typeface="Manrope" pitchFamily="34" charset="0"/>
                <a:ea typeface="Manrope" pitchFamily="34" charset="-122"/>
                <a:cs typeface="Manrope" pitchFamily="34" charset="-120"/>
              </a:rPr>
              <a:t>DEFENSA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Contexto</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La información de salud existe, pero suele estar dispersa.</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Text 5"/>
          <p:cNvSpPr/>
          <p:nvPr/>
        </p:nvSpPr>
        <p:spPr>
          <a:xfrm>
            <a:off x="658368" y="1627632"/>
            <a:ext cx="5074920" cy="1737360"/>
          </a:xfrm>
          <a:prstGeom prst="rect">
            <a:avLst/>
          </a:prstGeom>
          <a:noFill/>
          <a:ln/>
        </p:spPr>
        <p:txBody>
          <a:bodyPr wrap="square" lIns="0" tIns="0" rIns="0" bIns="0" rtlCol="0" anchor="ctr">
            <a:normAutofit/>
          </a:bodyPr>
          <a:lstStyle/>
          <a:p>
            <a:pPr algn="l" indent="0" marL="0">
              <a:buNone/>
            </a:pPr>
            <a:r>
              <a:rPr lang="en-US" sz="1900" b="1" dirty="0">
                <a:solidFill>
                  <a:srgbClr val="D2CADC"/>
                </a:solidFill>
                <a:latin typeface="Manrope" pitchFamily="34" charset="0"/>
                <a:ea typeface="Manrope" pitchFamily="34" charset="-122"/>
                <a:cs typeface="Manrope" pitchFamily="34" charset="-120"/>
              </a:rPr>
              <a:t>Una persona puede atenderse en hospitales, clínicas, laboratorios y consultorios distintos durante su vida. El problema aparece cuando esa información queda repartida entre sistemas institucionales, PDFs, recetas, imágenes, carnets y memoria del paciente.</a:t>
            </a:r>
            <a:endParaRPr lang="en-US" sz="1900" dirty="0"/>
          </a:p>
        </p:txBody>
      </p:sp>
      <p:sp>
        <p:nvSpPr>
          <p:cNvPr id="8" name="Shape 6"/>
          <p:cNvSpPr/>
          <p:nvPr/>
        </p:nvSpPr>
        <p:spPr>
          <a:xfrm>
            <a:off x="7726680" y="1883664"/>
            <a:ext cx="731520" cy="548640"/>
          </a:xfrm>
          <a:prstGeom prst="line">
            <a:avLst/>
          </a:prstGeom>
          <a:noFill/>
          <a:ln w="20320">
            <a:solidFill>
              <a:srgbClr val="9B2CFF"/>
            </a:solidFill>
            <a:prstDash val="solid"/>
            <a:headEnd type="none"/>
            <a:tailEnd type="triangle"/>
          </a:ln>
        </p:spPr>
      </p:sp>
      <p:sp>
        <p:nvSpPr>
          <p:cNvPr id="9" name="Shape 7"/>
          <p:cNvSpPr/>
          <p:nvPr/>
        </p:nvSpPr>
        <p:spPr>
          <a:xfrm>
            <a:off x="7726680" y="3072384"/>
            <a:ext cx="731520" cy="-640080"/>
          </a:xfrm>
          <a:prstGeom prst="line">
            <a:avLst/>
          </a:prstGeom>
          <a:noFill/>
          <a:ln w="20320">
            <a:solidFill>
              <a:srgbClr val="9B2CFF"/>
            </a:solidFill>
            <a:prstDash val="solid"/>
            <a:headEnd type="none"/>
            <a:tailEnd type="triangle"/>
          </a:ln>
        </p:spPr>
      </p:sp>
      <p:sp>
        <p:nvSpPr>
          <p:cNvPr id="10" name="Shape 8"/>
          <p:cNvSpPr/>
          <p:nvPr/>
        </p:nvSpPr>
        <p:spPr>
          <a:xfrm>
            <a:off x="7726680" y="4279392"/>
            <a:ext cx="731520" cy="-1847088"/>
          </a:xfrm>
          <a:prstGeom prst="line">
            <a:avLst/>
          </a:prstGeom>
          <a:noFill/>
          <a:ln w="20320">
            <a:solidFill>
              <a:srgbClr val="9B2CFF"/>
            </a:solidFill>
            <a:prstDash val="solid"/>
            <a:headEnd type="none"/>
            <a:tailEnd type="triangle"/>
          </a:ln>
        </p:spPr>
      </p:sp>
      <p:sp>
        <p:nvSpPr>
          <p:cNvPr id="11" name="Shape 9"/>
          <p:cNvSpPr/>
          <p:nvPr/>
        </p:nvSpPr>
        <p:spPr>
          <a:xfrm>
            <a:off x="6263640" y="1499616"/>
            <a:ext cx="1783080" cy="658368"/>
          </a:xfrm>
          <a:prstGeom prst="roundRect">
            <a:avLst>
              <a:gd name="adj" fmla="val 11111"/>
            </a:avLst>
          </a:prstGeom>
          <a:solidFill>
            <a:srgbClr val="15111D"/>
          </a:solidFill>
          <a:ln w="10160">
            <a:solidFill>
              <a:srgbClr val="2B2237"/>
            </a:solidFill>
            <a:prstDash val="solid"/>
          </a:ln>
        </p:spPr>
      </p:sp>
      <p:sp>
        <p:nvSpPr>
          <p:cNvPr id="12" name="Text 10"/>
          <p:cNvSpPr/>
          <p:nvPr/>
        </p:nvSpPr>
        <p:spPr>
          <a:xfrm>
            <a:off x="6409944" y="1655064"/>
            <a:ext cx="149047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Instituciones</a:t>
            </a:r>
            <a:endParaRPr lang="en-US" sz="1250" dirty="0"/>
          </a:p>
        </p:txBody>
      </p:sp>
      <p:sp>
        <p:nvSpPr>
          <p:cNvPr id="13" name="Text 11"/>
          <p:cNvSpPr/>
          <p:nvPr/>
        </p:nvSpPr>
        <p:spPr>
          <a:xfrm>
            <a:off x="6409944" y="1993392"/>
            <a:ext cx="1490472" cy="9144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historias clínicas parciales</a:t>
            </a:r>
            <a:endParaRPr lang="en-US" sz="880" dirty="0"/>
          </a:p>
        </p:txBody>
      </p:sp>
      <p:sp>
        <p:nvSpPr>
          <p:cNvPr id="14" name="Shape 12"/>
          <p:cNvSpPr/>
          <p:nvPr/>
        </p:nvSpPr>
        <p:spPr>
          <a:xfrm>
            <a:off x="6263640" y="2688336"/>
            <a:ext cx="1783080" cy="658368"/>
          </a:xfrm>
          <a:prstGeom prst="roundRect">
            <a:avLst>
              <a:gd name="adj" fmla="val 11111"/>
            </a:avLst>
          </a:prstGeom>
          <a:solidFill>
            <a:srgbClr val="15111D"/>
          </a:solidFill>
          <a:ln w="10160">
            <a:solidFill>
              <a:srgbClr val="2B2237"/>
            </a:solidFill>
            <a:prstDash val="solid"/>
          </a:ln>
        </p:spPr>
      </p:sp>
      <p:sp>
        <p:nvSpPr>
          <p:cNvPr id="15" name="Text 13"/>
          <p:cNvSpPr/>
          <p:nvPr/>
        </p:nvSpPr>
        <p:spPr>
          <a:xfrm>
            <a:off x="6409944" y="2843784"/>
            <a:ext cx="149047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Documentos</a:t>
            </a:r>
            <a:endParaRPr lang="en-US" sz="1250" dirty="0"/>
          </a:p>
        </p:txBody>
      </p:sp>
      <p:sp>
        <p:nvSpPr>
          <p:cNvPr id="16" name="Text 14"/>
          <p:cNvSpPr/>
          <p:nvPr/>
        </p:nvSpPr>
        <p:spPr>
          <a:xfrm>
            <a:off x="6409944" y="3182112"/>
            <a:ext cx="1490472" cy="9144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PDF, fotos, recetas</a:t>
            </a:r>
            <a:endParaRPr lang="en-US" sz="880" dirty="0"/>
          </a:p>
        </p:txBody>
      </p:sp>
      <p:sp>
        <p:nvSpPr>
          <p:cNvPr id="17" name="Shape 15"/>
          <p:cNvSpPr/>
          <p:nvPr/>
        </p:nvSpPr>
        <p:spPr>
          <a:xfrm>
            <a:off x="6263640" y="3877056"/>
            <a:ext cx="1783080" cy="658368"/>
          </a:xfrm>
          <a:prstGeom prst="roundRect">
            <a:avLst>
              <a:gd name="adj" fmla="val 11111"/>
            </a:avLst>
          </a:prstGeom>
          <a:solidFill>
            <a:srgbClr val="15111D"/>
          </a:solidFill>
          <a:ln w="10160">
            <a:solidFill>
              <a:srgbClr val="2B2237"/>
            </a:solidFill>
            <a:prstDash val="solid"/>
          </a:ln>
        </p:spPr>
      </p:sp>
      <p:sp>
        <p:nvSpPr>
          <p:cNvPr id="18" name="Text 16"/>
          <p:cNvSpPr/>
          <p:nvPr/>
        </p:nvSpPr>
        <p:spPr>
          <a:xfrm>
            <a:off x="6409944" y="4032504"/>
            <a:ext cx="149047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Memoria</a:t>
            </a:r>
            <a:endParaRPr lang="en-US" sz="1250" dirty="0"/>
          </a:p>
        </p:txBody>
      </p:sp>
      <p:sp>
        <p:nvSpPr>
          <p:cNvPr id="19" name="Text 17"/>
          <p:cNvSpPr/>
          <p:nvPr/>
        </p:nvSpPr>
        <p:spPr>
          <a:xfrm>
            <a:off x="6409944" y="4370832"/>
            <a:ext cx="1490472" cy="9144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datos recordados</a:t>
            </a:r>
            <a:endParaRPr lang="en-US" sz="880" dirty="0"/>
          </a:p>
        </p:txBody>
      </p:sp>
      <p:sp>
        <p:nvSpPr>
          <p:cNvPr id="20" name="Shape 18"/>
          <p:cNvSpPr/>
          <p:nvPr/>
        </p:nvSpPr>
        <p:spPr>
          <a:xfrm>
            <a:off x="8778240" y="2350008"/>
            <a:ext cx="2331720" cy="1298448"/>
          </a:xfrm>
          <a:prstGeom prst="roundRect">
            <a:avLst>
              <a:gd name="adj" fmla="val 5634"/>
            </a:avLst>
          </a:prstGeom>
          <a:solidFill>
            <a:srgbClr val="1D1728"/>
          </a:solidFill>
          <a:ln w="10160">
            <a:solidFill>
              <a:srgbClr val="2B2237"/>
            </a:solidFill>
            <a:prstDash val="solid"/>
          </a:ln>
        </p:spPr>
      </p:sp>
      <p:sp>
        <p:nvSpPr>
          <p:cNvPr id="21" name="Text 19"/>
          <p:cNvSpPr/>
          <p:nvPr/>
        </p:nvSpPr>
        <p:spPr>
          <a:xfrm>
            <a:off x="8924544" y="2505456"/>
            <a:ext cx="203911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Historial longitudinal</a:t>
            </a:r>
            <a:endParaRPr lang="en-US" sz="1250" dirty="0"/>
          </a:p>
        </p:txBody>
      </p:sp>
      <p:sp>
        <p:nvSpPr>
          <p:cNvPr id="22" name="Text 20"/>
          <p:cNvSpPr/>
          <p:nvPr/>
        </p:nvSpPr>
        <p:spPr>
          <a:xfrm>
            <a:off x="8924544" y="2843784"/>
            <a:ext cx="2039112"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información organizada por tiempo, evento y documento</a:t>
            </a:r>
            <a:endParaRPr lang="en-US" sz="880" dirty="0"/>
          </a:p>
        </p:txBody>
      </p:sp>
      <p:sp>
        <p:nvSpPr>
          <p:cNvPr id="23" name="Shape 21"/>
          <p:cNvSpPr/>
          <p:nvPr/>
        </p:nvSpPr>
        <p:spPr>
          <a:xfrm>
            <a:off x="6309360" y="4846320"/>
            <a:ext cx="4526280" cy="320040"/>
          </a:xfrm>
          <a:prstGeom prst="roundRect">
            <a:avLst>
              <a:gd name="adj" fmla="val 17143"/>
            </a:avLst>
          </a:prstGeom>
          <a:solidFill>
            <a:srgbClr val="9B2CFF">
              <a:alpha val="18000"/>
            </a:srgbClr>
          </a:solidFill>
          <a:ln w="10160">
            <a:solidFill>
              <a:srgbClr val="9B2CFF">
                <a:alpha val="48000"/>
              </a:srgbClr>
            </a:solidFill>
            <a:prstDash val="solid"/>
          </a:ln>
        </p:spPr>
      </p:sp>
      <p:sp>
        <p:nvSpPr>
          <p:cNvPr id="24" name="Text 22"/>
          <p:cNvSpPr/>
          <p:nvPr/>
        </p:nvSpPr>
        <p:spPr>
          <a:xfrm>
            <a:off x="6437376" y="4919472"/>
            <a:ext cx="4270248" cy="128016"/>
          </a:xfrm>
          <a:prstGeom prst="rect">
            <a:avLst/>
          </a:prstGeom>
          <a:noFill/>
          <a:ln/>
        </p:spPr>
        <p:txBody>
          <a:bodyPr wrap="square" lIns="0" tIns="0" rIns="0" bIns="0" rtlCol="0" anchor="ctr">
            <a:normAutofit/>
          </a:bodyPr>
          <a:lstStyle/>
          <a:p>
            <a:pPr algn="ctr" indent="0" marL="0">
              <a:buNone/>
            </a:pPr>
            <a:r>
              <a:rPr lang="en-US" sz="850" b="1" dirty="0">
                <a:solidFill>
                  <a:srgbClr val="C084FC"/>
                </a:solidFill>
                <a:latin typeface="Manrope" pitchFamily="34" charset="0"/>
                <a:ea typeface="Manrope" pitchFamily="34" charset="-122"/>
                <a:cs typeface="Manrope" pitchFamily="34" charset="-120"/>
              </a:rPr>
              <a:t>Oportunidad: centralizar sin sustituir sistemas clínicos</a:t>
            </a:r>
            <a:endParaRPr lang="en-US" sz="850" dirty="0"/>
          </a:p>
        </p:txBody>
      </p:sp>
      <p:pic>
        <p:nvPicPr>
          <p:cNvPr id="25"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26" name="Text 23"/>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27" name="Text 24"/>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02</a:t>
            </a:r>
            <a:endParaRPr lang="en-US" sz="800" dirty="0"/>
          </a:p>
        </p:txBody>
      </p:sp>
      <p:sp>
        <p:nvSpPr>
          <p:cNvPr id="28" name="Shape 25"/>
          <p:cNvSpPr/>
          <p:nvPr/>
        </p:nvSpPr>
        <p:spPr>
          <a:xfrm>
            <a:off x="475488" y="6181344"/>
            <a:ext cx="11247120" cy="0"/>
          </a:xfrm>
          <a:prstGeom prst="line">
            <a:avLst/>
          </a:prstGeom>
          <a:noFill/>
          <a:ln w="8890">
            <a:solidFill>
              <a:srgbClr val="2B2237">
                <a:alpha val="75000"/>
              </a:srgbClr>
            </a:solidFill>
            <a:prstDash val="solid"/>
          </a:ln>
        </p:spPr>
      </p:sp>
      <p:sp>
        <p:nvSpPr>
          <p:cNvPr id="29" name="Text 26"/>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perfil de proyecto</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Problema central</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Datos personales de salud sin continuidad accesible para el usuario.</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804672" y="1572768"/>
            <a:ext cx="3749040" cy="3246120"/>
          </a:xfrm>
          <a:prstGeom prst="roundRect">
            <a:avLst>
              <a:gd name="adj" fmla="val 2817"/>
            </a:avLst>
          </a:prstGeom>
          <a:solidFill>
            <a:srgbClr val="15111D"/>
          </a:solidFill>
          <a:ln w="12700">
            <a:solidFill>
              <a:srgbClr val="2B2237"/>
            </a:solidFill>
            <a:prstDash val="solid"/>
          </a:ln>
        </p:spPr>
      </p:sp>
      <p:sp>
        <p:nvSpPr>
          <p:cNvPr id="8" name="Text 6"/>
          <p:cNvSpPr/>
          <p:nvPr/>
        </p:nvSpPr>
        <p:spPr>
          <a:xfrm>
            <a:off x="1078992" y="1828800"/>
            <a:ext cx="3200400" cy="219456"/>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PREGUNTA DE INVESTIGACIÓN</a:t>
            </a:r>
            <a:endParaRPr lang="en-US" sz="850" dirty="0"/>
          </a:p>
        </p:txBody>
      </p:sp>
      <p:sp>
        <p:nvSpPr>
          <p:cNvPr id="9" name="Text 7"/>
          <p:cNvSpPr/>
          <p:nvPr/>
        </p:nvSpPr>
        <p:spPr>
          <a:xfrm>
            <a:off x="1078992" y="2267712"/>
            <a:ext cx="3154680" cy="1645920"/>
          </a:xfrm>
          <a:prstGeom prst="rect">
            <a:avLst/>
          </a:prstGeom>
          <a:noFill/>
          <a:ln/>
        </p:spPr>
        <p:txBody>
          <a:bodyPr wrap="square" lIns="0" tIns="0" rIns="0" bIns="0" rtlCol="0" anchor="ctr">
            <a:normAutofit/>
          </a:bodyPr>
          <a:lstStyle/>
          <a:p>
            <a:pPr indent="0" marL="0">
              <a:buNone/>
            </a:pPr>
            <a:r>
              <a:rPr lang="en-US" sz="1900" b="1" dirty="0">
                <a:solidFill>
                  <a:srgbClr val="D2CADC"/>
                </a:solidFill>
                <a:latin typeface="Manrope" pitchFamily="34" charset="0"/>
                <a:ea typeface="Manrope" pitchFamily="34" charset="-122"/>
                <a:cs typeface="Manrope" pitchFamily="34" charset="-120"/>
              </a:rPr>
              <a:t>¿Cómo centralizar, organizar y consultar la información de salud personal de manera longitudinal, segura y accesible, incorporando IA sin sustituir la evaluación profesional?</a:t>
            </a:r>
            <a:endParaRPr lang="en-US" sz="1900" dirty="0"/>
          </a:p>
        </p:txBody>
      </p:sp>
      <p:sp>
        <p:nvSpPr>
          <p:cNvPr id="10" name="Shape 8"/>
          <p:cNvSpPr/>
          <p:nvPr/>
        </p:nvSpPr>
        <p:spPr>
          <a:xfrm>
            <a:off x="1078992" y="4224528"/>
            <a:ext cx="1188720" cy="0"/>
          </a:xfrm>
          <a:prstGeom prst="line">
            <a:avLst/>
          </a:prstGeom>
          <a:noFill/>
          <a:ln w="31750">
            <a:solidFill>
              <a:srgbClr val="9B2CFF"/>
            </a:solidFill>
            <a:prstDash val="solid"/>
          </a:ln>
        </p:spPr>
      </p:sp>
      <p:sp>
        <p:nvSpPr>
          <p:cNvPr id="11" name="Shape 9"/>
          <p:cNvSpPr/>
          <p:nvPr/>
        </p:nvSpPr>
        <p:spPr>
          <a:xfrm>
            <a:off x="5230368" y="1517904"/>
            <a:ext cx="2377440" cy="1188720"/>
          </a:xfrm>
          <a:prstGeom prst="roundRect">
            <a:avLst>
              <a:gd name="adj" fmla="val 6154"/>
            </a:avLst>
          </a:prstGeom>
          <a:solidFill>
            <a:srgbClr val="15111D"/>
          </a:solidFill>
          <a:ln w="12700">
            <a:solidFill>
              <a:srgbClr val="2B2237">
                <a:alpha val="96000"/>
              </a:srgbClr>
            </a:solidFill>
            <a:prstDash val="solid"/>
          </a:ln>
        </p:spPr>
      </p:sp>
      <p:sp>
        <p:nvSpPr>
          <p:cNvPr id="12" name="Shape 10"/>
          <p:cNvSpPr/>
          <p:nvPr/>
        </p:nvSpPr>
        <p:spPr>
          <a:xfrm>
            <a:off x="5431536" y="1728216"/>
            <a:ext cx="786384" cy="0"/>
          </a:xfrm>
          <a:prstGeom prst="line">
            <a:avLst/>
          </a:prstGeom>
          <a:noFill/>
          <a:ln w="27940">
            <a:solidFill>
              <a:srgbClr val="9B2CFF"/>
            </a:solidFill>
            <a:prstDash val="solid"/>
          </a:ln>
        </p:spPr>
      </p:sp>
      <p:sp>
        <p:nvSpPr>
          <p:cNvPr id="13" name="Text 11"/>
          <p:cNvSpPr/>
          <p:nvPr/>
        </p:nvSpPr>
        <p:spPr>
          <a:xfrm>
            <a:off x="5431536" y="1901952"/>
            <a:ext cx="19751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CAUSA</a:t>
            </a:r>
            <a:endParaRPr lang="en-US" sz="850" dirty="0"/>
          </a:p>
        </p:txBody>
      </p:sp>
      <p:sp>
        <p:nvSpPr>
          <p:cNvPr id="14" name="Text 12"/>
          <p:cNvSpPr/>
          <p:nvPr/>
        </p:nvSpPr>
        <p:spPr>
          <a:xfrm>
            <a:off x="5431536" y="2231136"/>
            <a:ext cx="19751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Información distribuida</a:t>
            </a:r>
            <a:endParaRPr lang="en-US" sz="1600" dirty="0"/>
          </a:p>
        </p:txBody>
      </p:sp>
      <p:sp>
        <p:nvSpPr>
          <p:cNvPr id="15" name="Shape 13"/>
          <p:cNvSpPr/>
          <p:nvPr/>
        </p:nvSpPr>
        <p:spPr>
          <a:xfrm>
            <a:off x="8019288" y="1517904"/>
            <a:ext cx="2377440" cy="1188720"/>
          </a:xfrm>
          <a:prstGeom prst="roundRect">
            <a:avLst>
              <a:gd name="adj" fmla="val 6154"/>
            </a:avLst>
          </a:prstGeom>
          <a:solidFill>
            <a:srgbClr val="15111D"/>
          </a:solidFill>
          <a:ln w="12700">
            <a:solidFill>
              <a:srgbClr val="2B2237">
                <a:alpha val="96000"/>
              </a:srgbClr>
            </a:solidFill>
            <a:prstDash val="solid"/>
          </a:ln>
        </p:spPr>
      </p:sp>
      <p:sp>
        <p:nvSpPr>
          <p:cNvPr id="16" name="Shape 14"/>
          <p:cNvSpPr/>
          <p:nvPr/>
        </p:nvSpPr>
        <p:spPr>
          <a:xfrm>
            <a:off x="8220456" y="1728216"/>
            <a:ext cx="786384" cy="0"/>
          </a:xfrm>
          <a:prstGeom prst="line">
            <a:avLst/>
          </a:prstGeom>
          <a:noFill/>
          <a:ln w="27940">
            <a:solidFill>
              <a:srgbClr val="6D28D9"/>
            </a:solidFill>
            <a:prstDash val="solid"/>
          </a:ln>
        </p:spPr>
      </p:sp>
      <p:sp>
        <p:nvSpPr>
          <p:cNvPr id="17" name="Text 15"/>
          <p:cNvSpPr/>
          <p:nvPr/>
        </p:nvSpPr>
        <p:spPr>
          <a:xfrm>
            <a:off x="8220456" y="1901952"/>
            <a:ext cx="19751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CAUSA</a:t>
            </a:r>
            <a:endParaRPr lang="en-US" sz="850" dirty="0"/>
          </a:p>
        </p:txBody>
      </p:sp>
      <p:sp>
        <p:nvSpPr>
          <p:cNvPr id="18" name="Text 16"/>
          <p:cNvSpPr/>
          <p:nvPr/>
        </p:nvSpPr>
        <p:spPr>
          <a:xfrm>
            <a:off x="8220456" y="2231136"/>
            <a:ext cx="19751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Formatos heterogéneos</a:t>
            </a:r>
            <a:endParaRPr lang="en-US" sz="1600" dirty="0"/>
          </a:p>
        </p:txBody>
      </p:sp>
      <p:sp>
        <p:nvSpPr>
          <p:cNvPr id="19" name="Shape 17"/>
          <p:cNvSpPr/>
          <p:nvPr/>
        </p:nvSpPr>
        <p:spPr>
          <a:xfrm>
            <a:off x="5230368" y="3209544"/>
            <a:ext cx="2377440" cy="1188720"/>
          </a:xfrm>
          <a:prstGeom prst="roundRect">
            <a:avLst>
              <a:gd name="adj" fmla="val 6154"/>
            </a:avLst>
          </a:prstGeom>
          <a:solidFill>
            <a:srgbClr val="15111D"/>
          </a:solidFill>
          <a:ln w="12700">
            <a:solidFill>
              <a:srgbClr val="2B2237">
                <a:alpha val="96000"/>
              </a:srgbClr>
            </a:solidFill>
            <a:prstDash val="solid"/>
          </a:ln>
        </p:spPr>
      </p:sp>
      <p:sp>
        <p:nvSpPr>
          <p:cNvPr id="20" name="Shape 18"/>
          <p:cNvSpPr/>
          <p:nvPr/>
        </p:nvSpPr>
        <p:spPr>
          <a:xfrm>
            <a:off x="5431536" y="3419856"/>
            <a:ext cx="786384" cy="0"/>
          </a:xfrm>
          <a:prstGeom prst="line">
            <a:avLst/>
          </a:prstGeom>
          <a:noFill/>
          <a:ln w="27940">
            <a:solidFill>
              <a:srgbClr val="9B2CFF"/>
            </a:solidFill>
            <a:prstDash val="solid"/>
          </a:ln>
        </p:spPr>
      </p:sp>
      <p:sp>
        <p:nvSpPr>
          <p:cNvPr id="21" name="Text 19"/>
          <p:cNvSpPr/>
          <p:nvPr/>
        </p:nvSpPr>
        <p:spPr>
          <a:xfrm>
            <a:off x="5431536" y="3593592"/>
            <a:ext cx="19751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CAUSA</a:t>
            </a:r>
            <a:endParaRPr lang="en-US" sz="850" dirty="0"/>
          </a:p>
        </p:txBody>
      </p:sp>
      <p:sp>
        <p:nvSpPr>
          <p:cNvPr id="22" name="Text 20"/>
          <p:cNvSpPr/>
          <p:nvPr/>
        </p:nvSpPr>
        <p:spPr>
          <a:xfrm>
            <a:off x="5431536" y="3922776"/>
            <a:ext cx="19751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Registro cronológico irregular</a:t>
            </a:r>
            <a:endParaRPr lang="en-US" sz="1600" dirty="0"/>
          </a:p>
        </p:txBody>
      </p:sp>
      <p:sp>
        <p:nvSpPr>
          <p:cNvPr id="23" name="Shape 21"/>
          <p:cNvSpPr/>
          <p:nvPr/>
        </p:nvSpPr>
        <p:spPr>
          <a:xfrm>
            <a:off x="8019288" y="3209544"/>
            <a:ext cx="2377440" cy="1188720"/>
          </a:xfrm>
          <a:prstGeom prst="roundRect">
            <a:avLst>
              <a:gd name="adj" fmla="val 6154"/>
            </a:avLst>
          </a:prstGeom>
          <a:solidFill>
            <a:srgbClr val="15111D"/>
          </a:solidFill>
          <a:ln w="12700">
            <a:solidFill>
              <a:srgbClr val="2B2237">
                <a:alpha val="96000"/>
              </a:srgbClr>
            </a:solidFill>
            <a:prstDash val="solid"/>
          </a:ln>
        </p:spPr>
      </p:sp>
      <p:sp>
        <p:nvSpPr>
          <p:cNvPr id="24" name="Shape 22"/>
          <p:cNvSpPr/>
          <p:nvPr/>
        </p:nvSpPr>
        <p:spPr>
          <a:xfrm>
            <a:off x="8220456" y="3419856"/>
            <a:ext cx="786384" cy="0"/>
          </a:xfrm>
          <a:prstGeom prst="line">
            <a:avLst/>
          </a:prstGeom>
          <a:noFill/>
          <a:ln w="27940">
            <a:solidFill>
              <a:srgbClr val="6D28D9"/>
            </a:solidFill>
            <a:prstDash val="solid"/>
          </a:ln>
        </p:spPr>
      </p:sp>
      <p:sp>
        <p:nvSpPr>
          <p:cNvPr id="25" name="Text 23"/>
          <p:cNvSpPr/>
          <p:nvPr/>
        </p:nvSpPr>
        <p:spPr>
          <a:xfrm>
            <a:off x="8220456" y="3593592"/>
            <a:ext cx="19751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CAUSA</a:t>
            </a:r>
            <a:endParaRPr lang="en-US" sz="850" dirty="0"/>
          </a:p>
        </p:txBody>
      </p:sp>
      <p:sp>
        <p:nvSpPr>
          <p:cNvPr id="26" name="Text 24"/>
          <p:cNvSpPr/>
          <p:nvPr/>
        </p:nvSpPr>
        <p:spPr>
          <a:xfrm>
            <a:off x="8220456" y="3922776"/>
            <a:ext cx="19751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Falta de análisis integrado</a:t>
            </a:r>
            <a:endParaRPr lang="en-US" sz="1600" dirty="0"/>
          </a:p>
        </p:txBody>
      </p:sp>
      <p:sp>
        <p:nvSpPr>
          <p:cNvPr id="27" name="Text 25"/>
          <p:cNvSpPr/>
          <p:nvPr/>
        </p:nvSpPr>
        <p:spPr>
          <a:xfrm>
            <a:off x="5230368" y="4517136"/>
            <a:ext cx="2194560" cy="201168"/>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EFECTOS PRINCIPALES</a:t>
            </a:r>
            <a:endParaRPr lang="en-US" sz="850" dirty="0"/>
          </a:p>
        </p:txBody>
      </p:sp>
      <p:sp>
        <p:nvSpPr>
          <p:cNvPr id="28" name="Shape 26"/>
          <p:cNvSpPr/>
          <p:nvPr/>
        </p:nvSpPr>
        <p:spPr>
          <a:xfrm>
            <a:off x="5230368" y="4846320"/>
            <a:ext cx="1207008" cy="548640"/>
          </a:xfrm>
          <a:prstGeom prst="roundRect">
            <a:avLst>
              <a:gd name="adj" fmla="val 8333"/>
            </a:avLst>
          </a:prstGeom>
          <a:solidFill>
            <a:srgbClr val="15111D"/>
          </a:solidFill>
          <a:ln w="10160">
            <a:solidFill>
              <a:srgbClr val="2B2237"/>
            </a:solidFill>
            <a:prstDash val="solid"/>
          </a:ln>
        </p:spPr>
      </p:sp>
      <p:sp>
        <p:nvSpPr>
          <p:cNvPr id="29" name="Text 27"/>
          <p:cNvSpPr/>
          <p:nvPr/>
        </p:nvSpPr>
        <p:spPr>
          <a:xfrm>
            <a:off x="5303520" y="5001768"/>
            <a:ext cx="1060704" cy="146304"/>
          </a:xfrm>
          <a:prstGeom prst="rect">
            <a:avLst/>
          </a:prstGeom>
          <a:noFill/>
          <a:ln/>
        </p:spPr>
        <p:txBody>
          <a:bodyPr wrap="square" lIns="0" tIns="0" rIns="0" bIns="0" rtlCol="0" anchor="ctr">
            <a:normAutofit/>
          </a:bodyPr>
          <a:lstStyle/>
          <a:p>
            <a:pPr algn="ctr" indent="0" marL="0">
              <a:buNone/>
            </a:pPr>
            <a:r>
              <a:rPr lang="en-US" sz="770" b="1" dirty="0">
                <a:solidFill>
                  <a:srgbClr val="D2CADC"/>
                </a:solidFill>
                <a:latin typeface="Manrope" pitchFamily="34" charset="0"/>
                <a:ea typeface="Manrope" pitchFamily="34" charset="-122"/>
                <a:cs typeface="Manrope" pitchFamily="34" charset="-120"/>
              </a:rPr>
              <a:t>Reconstrucción lenta</a:t>
            </a:r>
            <a:endParaRPr lang="en-US" sz="770" dirty="0"/>
          </a:p>
        </p:txBody>
      </p:sp>
      <p:sp>
        <p:nvSpPr>
          <p:cNvPr id="30" name="Shape 28"/>
          <p:cNvSpPr/>
          <p:nvPr/>
        </p:nvSpPr>
        <p:spPr>
          <a:xfrm>
            <a:off x="6647688" y="4846320"/>
            <a:ext cx="1207008" cy="548640"/>
          </a:xfrm>
          <a:prstGeom prst="roundRect">
            <a:avLst>
              <a:gd name="adj" fmla="val 8333"/>
            </a:avLst>
          </a:prstGeom>
          <a:solidFill>
            <a:srgbClr val="15111D"/>
          </a:solidFill>
          <a:ln w="10160">
            <a:solidFill>
              <a:srgbClr val="2B2237"/>
            </a:solidFill>
            <a:prstDash val="solid"/>
          </a:ln>
        </p:spPr>
      </p:sp>
      <p:sp>
        <p:nvSpPr>
          <p:cNvPr id="31" name="Text 29"/>
          <p:cNvSpPr/>
          <p:nvPr/>
        </p:nvSpPr>
        <p:spPr>
          <a:xfrm>
            <a:off x="6720840" y="5001768"/>
            <a:ext cx="1060704" cy="146304"/>
          </a:xfrm>
          <a:prstGeom prst="rect">
            <a:avLst/>
          </a:prstGeom>
          <a:noFill/>
          <a:ln/>
        </p:spPr>
        <p:txBody>
          <a:bodyPr wrap="square" lIns="0" tIns="0" rIns="0" bIns="0" rtlCol="0" anchor="ctr">
            <a:normAutofit/>
          </a:bodyPr>
          <a:lstStyle/>
          <a:p>
            <a:pPr algn="ctr" indent="0" marL="0">
              <a:buNone/>
            </a:pPr>
            <a:r>
              <a:rPr lang="en-US" sz="770" b="1" dirty="0">
                <a:solidFill>
                  <a:srgbClr val="D2CADC"/>
                </a:solidFill>
                <a:latin typeface="Manrope" pitchFamily="34" charset="0"/>
                <a:ea typeface="Manrope" pitchFamily="34" charset="-122"/>
                <a:cs typeface="Manrope" pitchFamily="34" charset="-120"/>
              </a:rPr>
              <a:t>Omisión de antecedentes</a:t>
            </a:r>
            <a:endParaRPr lang="en-US" sz="770" dirty="0"/>
          </a:p>
        </p:txBody>
      </p:sp>
      <p:sp>
        <p:nvSpPr>
          <p:cNvPr id="32" name="Shape 30"/>
          <p:cNvSpPr/>
          <p:nvPr/>
        </p:nvSpPr>
        <p:spPr>
          <a:xfrm>
            <a:off x="8065008" y="4846320"/>
            <a:ext cx="1207008" cy="548640"/>
          </a:xfrm>
          <a:prstGeom prst="roundRect">
            <a:avLst>
              <a:gd name="adj" fmla="val 8333"/>
            </a:avLst>
          </a:prstGeom>
          <a:solidFill>
            <a:srgbClr val="15111D"/>
          </a:solidFill>
          <a:ln w="10160">
            <a:solidFill>
              <a:srgbClr val="2B2237"/>
            </a:solidFill>
            <a:prstDash val="solid"/>
          </a:ln>
        </p:spPr>
      </p:sp>
      <p:sp>
        <p:nvSpPr>
          <p:cNvPr id="33" name="Text 31"/>
          <p:cNvSpPr/>
          <p:nvPr/>
        </p:nvSpPr>
        <p:spPr>
          <a:xfrm>
            <a:off x="8138160" y="5001768"/>
            <a:ext cx="1060704" cy="146304"/>
          </a:xfrm>
          <a:prstGeom prst="rect">
            <a:avLst/>
          </a:prstGeom>
          <a:noFill/>
          <a:ln/>
        </p:spPr>
        <p:txBody>
          <a:bodyPr wrap="square" lIns="0" tIns="0" rIns="0" bIns="0" rtlCol="0" anchor="ctr">
            <a:normAutofit/>
          </a:bodyPr>
          <a:lstStyle/>
          <a:p>
            <a:pPr algn="ctr" indent="0" marL="0">
              <a:buNone/>
            </a:pPr>
            <a:r>
              <a:rPr lang="en-US" sz="770" b="1" dirty="0">
                <a:solidFill>
                  <a:srgbClr val="D2CADC"/>
                </a:solidFill>
                <a:latin typeface="Manrope" pitchFamily="34" charset="0"/>
                <a:ea typeface="Manrope" pitchFamily="34" charset="-122"/>
                <a:cs typeface="Manrope" pitchFamily="34" charset="-120"/>
              </a:rPr>
              <a:t>Retrasos de seguimiento</a:t>
            </a:r>
            <a:endParaRPr lang="en-US" sz="770" dirty="0"/>
          </a:p>
        </p:txBody>
      </p:sp>
      <p:sp>
        <p:nvSpPr>
          <p:cNvPr id="34" name="Shape 32"/>
          <p:cNvSpPr/>
          <p:nvPr/>
        </p:nvSpPr>
        <p:spPr>
          <a:xfrm>
            <a:off x="9482328" y="4846320"/>
            <a:ext cx="1207008" cy="548640"/>
          </a:xfrm>
          <a:prstGeom prst="roundRect">
            <a:avLst>
              <a:gd name="adj" fmla="val 8333"/>
            </a:avLst>
          </a:prstGeom>
          <a:solidFill>
            <a:srgbClr val="15111D"/>
          </a:solidFill>
          <a:ln w="10160">
            <a:solidFill>
              <a:srgbClr val="2B2237"/>
            </a:solidFill>
            <a:prstDash val="solid"/>
          </a:ln>
        </p:spPr>
      </p:sp>
      <p:sp>
        <p:nvSpPr>
          <p:cNvPr id="35" name="Text 33"/>
          <p:cNvSpPr/>
          <p:nvPr/>
        </p:nvSpPr>
        <p:spPr>
          <a:xfrm>
            <a:off x="9555480" y="5001768"/>
            <a:ext cx="1060704" cy="146304"/>
          </a:xfrm>
          <a:prstGeom prst="rect">
            <a:avLst/>
          </a:prstGeom>
          <a:noFill/>
          <a:ln/>
        </p:spPr>
        <p:txBody>
          <a:bodyPr wrap="square" lIns="0" tIns="0" rIns="0" bIns="0" rtlCol="0" anchor="ctr">
            <a:normAutofit/>
          </a:bodyPr>
          <a:lstStyle/>
          <a:p>
            <a:pPr algn="ctr" indent="0" marL="0">
              <a:buNone/>
            </a:pPr>
            <a:r>
              <a:rPr lang="en-US" sz="770" b="1" dirty="0">
                <a:solidFill>
                  <a:srgbClr val="D2CADC"/>
                </a:solidFill>
                <a:latin typeface="Manrope" pitchFamily="34" charset="0"/>
                <a:ea typeface="Manrope" pitchFamily="34" charset="-122"/>
                <a:cs typeface="Manrope" pitchFamily="34" charset="-120"/>
              </a:rPr>
              <a:t>Menor apoyo preventivo</a:t>
            </a:r>
            <a:endParaRPr lang="en-US" sz="770" dirty="0"/>
          </a:p>
        </p:txBody>
      </p:sp>
      <p:pic>
        <p:nvPicPr>
          <p:cNvPr id="36"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7" name="Text 34"/>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8" name="Text 35"/>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03</a:t>
            </a:r>
            <a:endParaRPr lang="en-US" sz="800" dirty="0"/>
          </a:p>
        </p:txBody>
      </p:sp>
      <p:sp>
        <p:nvSpPr>
          <p:cNvPr id="39" name="Shape 36"/>
          <p:cNvSpPr/>
          <p:nvPr/>
        </p:nvSpPr>
        <p:spPr>
          <a:xfrm>
            <a:off x="475488" y="6181344"/>
            <a:ext cx="11247120" cy="0"/>
          </a:xfrm>
          <a:prstGeom prst="line">
            <a:avLst/>
          </a:prstGeom>
          <a:noFill/>
          <a:ln w="8890">
            <a:solidFill>
              <a:srgbClr val="2B2237">
                <a:alpha val="75000"/>
              </a:srgbClr>
            </a:solidFill>
            <a:prstDash val="solid"/>
          </a:ln>
        </p:spPr>
      </p:sp>
      <p:sp>
        <p:nvSpPr>
          <p:cNvPr id="40" name="Text 37"/>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árbol de problemas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Objetivos</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Qué se va a construir y cómo se delimita la entrega.</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658368" y="1600200"/>
            <a:ext cx="4846320" cy="3520440"/>
          </a:xfrm>
          <a:prstGeom prst="roundRect">
            <a:avLst>
              <a:gd name="adj" fmla="val 2597"/>
            </a:avLst>
          </a:prstGeom>
          <a:solidFill>
            <a:srgbClr val="15111D"/>
          </a:solidFill>
          <a:ln w="12700">
            <a:solidFill>
              <a:srgbClr val="2B2237"/>
            </a:solidFill>
            <a:prstDash val="solid"/>
          </a:ln>
        </p:spPr>
      </p:sp>
      <p:sp>
        <p:nvSpPr>
          <p:cNvPr id="8" name="Text 6"/>
          <p:cNvSpPr/>
          <p:nvPr/>
        </p:nvSpPr>
        <p:spPr>
          <a:xfrm>
            <a:off x="987552" y="1938528"/>
            <a:ext cx="2286000" cy="228600"/>
          </a:xfrm>
          <a:prstGeom prst="rect">
            <a:avLst/>
          </a:prstGeom>
          <a:noFill/>
          <a:ln/>
        </p:spPr>
        <p:txBody>
          <a:bodyPr wrap="square" lIns="0" tIns="0" rIns="0" bIns="0" rtlCol="0" anchor="ctr"/>
          <a:lstStyle/>
          <a:p>
            <a:pPr indent="0" marL="0">
              <a:buNone/>
            </a:pPr>
            <a:r>
              <a:rPr lang="en-US" sz="900" b="1" dirty="0">
                <a:solidFill>
                  <a:srgbClr val="C084FC"/>
                </a:solidFill>
                <a:latin typeface="Manrope" pitchFamily="34" charset="0"/>
                <a:ea typeface="Manrope" pitchFamily="34" charset="-122"/>
                <a:cs typeface="Manrope" pitchFamily="34" charset="-120"/>
              </a:rPr>
              <a:t>OBJETIVO GENERAL</a:t>
            </a:r>
            <a:endParaRPr lang="en-US" sz="900" dirty="0"/>
          </a:p>
        </p:txBody>
      </p:sp>
      <p:sp>
        <p:nvSpPr>
          <p:cNvPr id="9" name="Text 7"/>
          <p:cNvSpPr/>
          <p:nvPr/>
        </p:nvSpPr>
        <p:spPr>
          <a:xfrm>
            <a:off x="987552" y="2395728"/>
            <a:ext cx="4187952" cy="1965960"/>
          </a:xfrm>
          <a:prstGeom prst="rect">
            <a:avLst/>
          </a:prstGeom>
          <a:noFill/>
          <a:ln/>
        </p:spPr>
        <p:txBody>
          <a:bodyPr wrap="square" lIns="0" tIns="0" rIns="0" bIns="0" rtlCol="0" anchor="ctr">
            <a:normAutofit/>
          </a:bodyPr>
          <a:lstStyle/>
          <a:p>
            <a:pPr indent="0" marL="0">
              <a:buNone/>
            </a:pPr>
            <a:r>
              <a:rPr lang="en-US" sz="1800" b="1" dirty="0">
                <a:solidFill>
                  <a:srgbClr val="D2CADC"/>
                </a:solidFill>
                <a:latin typeface="Manrope" pitchFamily="34" charset="0"/>
                <a:ea typeface="Manrope" pitchFamily="34" charset="-122"/>
                <a:cs typeface="Manrope" pitchFamily="34" charset="-120"/>
              </a:rPr>
              <a:t>Desarrollar una aplicación multiplataforma para Android y Web de historia clínica personal que permita centralizar, organizar y consultar longitudinalmente la información de salud del usuario, incorporando IA para apoyo de revisión sin sustituir el criterio profesional.</a:t>
            </a:r>
            <a:endParaRPr lang="en-US" sz="1800" dirty="0"/>
          </a:p>
        </p:txBody>
      </p:sp>
      <p:sp>
        <p:nvSpPr>
          <p:cNvPr id="10" name="Text 8"/>
          <p:cNvSpPr/>
          <p:nvPr/>
        </p:nvSpPr>
        <p:spPr>
          <a:xfrm>
            <a:off x="6144768" y="1472184"/>
            <a:ext cx="384048" cy="201168"/>
          </a:xfrm>
          <a:prstGeom prst="rect">
            <a:avLst/>
          </a:prstGeom>
          <a:noFill/>
          <a:ln/>
        </p:spPr>
        <p:txBody>
          <a:bodyPr wrap="square" lIns="0" tIns="0" rIns="0" bIns="0" rtlCol="0" anchor="ctr"/>
          <a:lstStyle/>
          <a:p>
            <a:pPr indent="0" marL="0">
              <a:buNone/>
            </a:pPr>
            <a:r>
              <a:rPr lang="en-US" sz="900" b="1" dirty="0">
                <a:solidFill>
                  <a:srgbClr val="9B2CFF"/>
                </a:solidFill>
                <a:latin typeface="Manrope" pitchFamily="34" charset="0"/>
                <a:ea typeface="Manrope" pitchFamily="34" charset="-122"/>
                <a:cs typeface="Manrope" pitchFamily="34" charset="-120"/>
              </a:rPr>
              <a:t>01</a:t>
            </a:r>
            <a:endParaRPr lang="en-US" sz="900" dirty="0"/>
          </a:p>
        </p:txBody>
      </p:sp>
      <p:sp>
        <p:nvSpPr>
          <p:cNvPr id="11" name="Shape 9"/>
          <p:cNvSpPr/>
          <p:nvPr/>
        </p:nvSpPr>
        <p:spPr>
          <a:xfrm>
            <a:off x="6565392" y="1444752"/>
            <a:ext cx="4251960" cy="502920"/>
          </a:xfrm>
          <a:prstGeom prst="roundRect">
            <a:avLst>
              <a:gd name="adj" fmla="val 10909"/>
            </a:avLst>
          </a:prstGeom>
          <a:solidFill>
            <a:srgbClr val="15111D"/>
          </a:solidFill>
          <a:ln w="10160">
            <a:solidFill>
              <a:srgbClr val="2B2237"/>
            </a:solidFill>
            <a:prstDash val="solid"/>
          </a:ln>
        </p:spPr>
      </p:sp>
      <p:sp>
        <p:nvSpPr>
          <p:cNvPr id="12" name="Text 10"/>
          <p:cNvSpPr/>
          <p:nvPr/>
        </p:nvSpPr>
        <p:spPr>
          <a:xfrm>
            <a:off x="6784848" y="1572768"/>
            <a:ext cx="3794760" cy="164592"/>
          </a:xfrm>
          <a:prstGeom prst="rect">
            <a:avLst/>
          </a:prstGeom>
          <a:noFill/>
          <a:ln/>
        </p:spPr>
        <p:txBody>
          <a:bodyPr wrap="square" lIns="0" tIns="0" rIns="0" bIns="0" rtlCol="0" anchor="ctr">
            <a:normAutofit/>
          </a:bodyPr>
          <a:lstStyle/>
          <a:p>
            <a:pPr indent="0" marL="0">
              <a:buNone/>
            </a:pPr>
            <a:r>
              <a:rPr lang="en-US" sz="1220" b="1" dirty="0">
                <a:solidFill>
                  <a:srgbClr val="D2CADC"/>
                </a:solidFill>
                <a:latin typeface="Manrope" pitchFamily="34" charset="0"/>
                <a:ea typeface="Manrope" pitchFamily="34" charset="-122"/>
                <a:cs typeface="Manrope" pitchFamily="34" charset="-120"/>
              </a:rPr>
              <a:t>Autenticación y control de acceso</a:t>
            </a:r>
            <a:endParaRPr lang="en-US" sz="1220" dirty="0"/>
          </a:p>
        </p:txBody>
      </p:sp>
      <p:sp>
        <p:nvSpPr>
          <p:cNvPr id="13" name="Text 11"/>
          <p:cNvSpPr/>
          <p:nvPr/>
        </p:nvSpPr>
        <p:spPr>
          <a:xfrm>
            <a:off x="6144768" y="2276856"/>
            <a:ext cx="384048" cy="201168"/>
          </a:xfrm>
          <a:prstGeom prst="rect">
            <a:avLst/>
          </a:prstGeom>
          <a:noFill/>
          <a:ln/>
        </p:spPr>
        <p:txBody>
          <a:bodyPr wrap="square" lIns="0" tIns="0" rIns="0" bIns="0" rtlCol="0" anchor="ctr"/>
          <a:lstStyle/>
          <a:p>
            <a:pPr indent="0" marL="0">
              <a:buNone/>
            </a:pPr>
            <a:r>
              <a:rPr lang="en-US" sz="900" b="1" dirty="0">
                <a:solidFill>
                  <a:srgbClr val="9B2CFF"/>
                </a:solidFill>
                <a:latin typeface="Manrope" pitchFamily="34" charset="0"/>
                <a:ea typeface="Manrope" pitchFamily="34" charset="-122"/>
                <a:cs typeface="Manrope" pitchFamily="34" charset="-120"/>
              </a:rPr>
              <a:t>02</a:t>
            </a:r>
            <a:endParaRPr lang="en-US" sz="900" dirty="0"/>
          </a:p>
        </p:txBody>
      </p:sp>
      <p:sp>
        <p:nvSpPr>
          <p:cNvPr id="14" name="Shape 12"/>
          <p:cNvSpPr/>
          <p:nvPr/>
        </p:nvSpPr>
        <p:spPr>
          <a:xfrm>
            <a:off x="6565392" y="2249424"/>
            <a:ext cx="4251960" cy="502920"/>
          </a:xfrm>
          <a:prstGeom prst="roundRect">
            <a:avLst>
              <a:gd name="adj" fmla="val 10909"/>
            </a:avLst>
          </a:prstGeom>
          <a:solidFill>
            <a:srgbClr val="15111D"/>
          </a:solidFill>
          <a:ln w="10160">
            <a:solidFill>
              <a:srgbClr val="2B2237"/>
            </a:solidFill>
            <a:prstDash val="solid"/>
          </a:ln>
        </p:spPr>
      </p:sp>
      <p:sp>
        <p:nvSpPr>
          <p:cNvPr id="15" name="Text 13"/>
          <p:cNvSpPr/>
          <p:nvPr/>
        </p:nvSpPr>
        <p:spPr>
          <a:xfrm>
            <a:off x="6784848" y="2377440"/>
            <a:ext cx="3794760" cy="164592"/>
          </a:xfrm>
          <a:prstGeom prst="rect">
            <a:avLst/>
          </a:prstGeom>
          <a:noFill/>
          <a:ln/>
        </p:spPr>
        <p:txBody>
          <a:bodyPr wrap="square" lIns="0" tIns="0" rIns="0" bIns="0" rtlCol="0" anchor="ctr">
            <a:normAutofit/>
          </a:bodyPr>
          <a:lstStyle/>
          <a:p>
            <a:pPr indent="0" marL="0">
              <a:buNone/>
            </a:pPr>
            <a:r>
              <a:rPr lang="en-US" sz="1220" b="1" dirty="0">
                <a:solidFill>
                  <a:srgbClr val="D2CADC"/>
                </a:solidFill>
                <a:latin typeface="Manrope" pitchFamily="34" charset="0"/>
                <a:ea typeface="Manrope" pitchFamily="34" charset="-122"/>
                <a:cs typeface="Manrope" pitchFamily="34" charset="-120"/>
              </a:rPr>
              <a:t>Registro longitudinal por fechas y categorías</a:t>
            </a:r>
            <a:endParaRPr lang="en-US" sz="1220" dirty="0"/>
          </a:p>
        </p:txBody>
      </p:sp>
      <p:sp>
        <p:nvSpPr>
          <p:cNvPr id="16" name="Text 14"/>
          <p:cNvSpPr/>
          <p:nvPr/>
        </p:nvSpPr>
        <p:spPr>
          <a:xfrm>
            <a:off x="6144768" y="3081528"/>
            <a:ext cx="384048" cy="201168"/>
          </a:xfrm>
          <a:prstGeom prst="rect">
            <a:avLst/>
          </a:prstGeom>
          <a:noFill/>
          <a:ln/>
        </p:spPr>
        <p:txBody>
          <a:bodyPr wrap="square" lIns="0" tIns="0" rIns="0" bIns="0" rtlCol="0" anchor="ctr"/>
          <a:lstStyle/>
          <a:p>
            <a:pPr indent="0" marL="0">
              <a:buNone/>
            </a:pPr>
            <a:r>
              <a:rPr lang="en-US" sz="900" b="1" dirty="0">
                <a:solidFill>
                  <a:srgbClr val="9B2CFF"/>
                </a:solidFill>
                <a:latin typeface="Manrope" pitchFamily="34" charset="0"/>
                <a:ea typeface="Manrope" pitchFamily="34" charset="-122"/>
                <a:cs typeface="Manrope" pitchFamily="34" charset="-120"/>
              </a:rPr>
              <a:t>03</a:t>
            </a:r>
            <a:endParaRPr lang="en-US" sz="900" dirty="0"/>
          </a:p>
        </p:txBody>
      </p:sp>
      <p:sp>
        <p:nvSpPr>
          <p:cNvPr id="17" name="Shape 15"/>
          <p:cNvSpPr/>
          <p:nvPr/>
        </p:nvSpPr>
        <p:spPr>
          <a:xfrm>
            <a:off x="6565392" y="3054096"/>
            <a:ext cx="4251960" cy="502920"/>
          </a:xfrm>
          <a:prstGeom prst="roundRect">
            <a:avLst>
              <a:gd name="adj" fmla="val 10909"/>
            </a:avLst>
          </a:prstGeom>
          <a:solidFill>
            <a:srgbClr val="15111D"/>
          </a:solidFill>
          <a:ln w="10160">
            <a:solidFill>
              <a:srgbClr val="2B2237"/>
            </a:solidFill>
            <a:prstDash val="solid"/>
          </a:ln>
        </p:spPr>
      </p:sp>
      <p:sp>
        <p:nvSpPr>
          <p:cNvPr id="18" name="Text 16"/>
          <p:cNvSpPr/>
          <p:nvPr/>
        </p:nvSpPr>
        <p:spPr>
          <a:xfrm>
            <a:off x="6784848" y="3182112"/>
            <a:ext cx="3794760" cy="164592"/>
          </a:xfrm>
          <a:prstGeom prst="rect">
            <a:avLst/>
          </a:prstGeom>
          <a:noFill/>
          <a:ln/>
        </p:spPr>
        <p:txBody>
          <a:bodyPr wrap="square" lIns="0" tIns="0" rIns="0" bIns="0" rtlCol="0" anchor="ctr">
            <a:normAutofit/>
          </a:bodyPr>
          <a:lstStyle/>
          <a:p>
            <a:pPr indent="0" marL="0">
              <a:buNone/>
            </a:pPr>
            <a:r>
              <a:rPr lang="en-US" sz="1220" b="1" dirty="0">
                <a:solidFill>
                  <a:srgbClr val="D2CADC"/>
                </a:solidFill>
                <a:latin typeface="Manrope" pitchFamily="34" charset="0"/>
                <a:ea typeface="Manrope" pitchFamily="34" charset="-122"/>
                <a:cs typeface="Manrope" pitchFamily="34" charset="-120"/>
              </a:rPr>
              <a:t>Línea de tiempo, búsqueda y filtros</a:t>
            </a:r>
            <a:endParaRPr lang="en-US" sz="1220" dirty="0"/>
          </a:p>
        </p:txBody>
      </p:sp>
      <p:sp>
        <p:nvSpPr>
          <p:cNvPr id="19" name="Text 17"/>
          <p:cNvSpPr/>
          <p:nvPr/>
        </p:nvSpPr>
        <p:spPr>
          <a:xfrm>
            <a:off x="6144768" y="3886200"/>
            <a:ext cx="384048" cy="201168"/>
          </a:xfrm>
          <a:prstGeom prst="rect">
            <a:avLst/>
          </a:prstGeom>
          <a:noFill/>
          <a:ln/>
        </p:spPr>
        <p:txBody>
          <a:bodyPr wrap="square" lIns="0" tIns="0" rIns="0" bIns="0" rtlCol="0" anchor="ctr"/>
          <a:lstStyle/>
          <a:p>
            <a:pPr indent="0" marL="0">
              <a:buNone/>
            </a:pPr>
            <a:r>
              <a:rPr lang="en-US" sz="900" b="1" dirty="0">
                <a:solidFill>
                  <a:srgbClr val="9B2CFF"/>
                </a:solidFill>
                <a:latin typeface="Manrope" pitchFamily="34" charset="0"/>
                <a:ea typeface="Manrope" pitchFamily="34" charset="-122"/>
                <a:cs typeface="Manrope" pitchFamily="34" charset="-120"/>
              </a:rPr>
              <a:t>04</a:t>
            </a:r>
            <a:endParaRPr lang="en-US" sz="900" dirty="0"/>
          </a:p>
        </p:txBody>
      </p:sp>
      <p:sp>
        <p:nvSpPr>
          <p:cNvPr id="20" name="Shape 18"/>
          <p:cNvSpPr/>
          <p:nvPr/>
        </p:nvSpPr>
        <p:spPr>
          <a:xfrm>
            <a:off x="6565392" y="3858768"/>
            <a:ext cx="4251960" cy="502920"/>
          </a:xfrm>
          <a:prstGeom prst="roundRect">
            <a:avLst>
              <a:gd name="adj" fmla="val 10909"/>
            </a:avLst>
          </a:prstGeom>
          <a:solidFill>
            <a:srgbClr val="15111D"/>
          </a:solidFill>
          <a:ln w="10160">
            <a:solidFill>
              <a:srgbClr val="2B2237"/>
            </a:solidFill>
            <a:prstDash val="solid"/>
          </a:ln>
        </p:spPr>
      </p:sp>
      <p:sp>
        <p:nvSpPr>
          <p:cNvPr id="21" name="Text 19"/>
          <p:cNvSpPr/>
          <p:nvPr/>
        </p:nvSpPr>
        <p:spPr>
          <a:xfrm>
            <a:off x="6784848" y="3986784"/>
            <a:ext cx="3794760" cy="164592"/>
          </a:xfrm>
          <a:prstGeom prst="rect">
            <a:avLst/>
          </a:prstGeom>
          <a:noFill/>
          <a:ln/>
        </p:spPr>
        <p:txBody>
          <a:bodyPr wrap="square" lIns="0" tIns="0" rIns="0" bIns="0" rtlCol="0" anchor="ctr">
            <a:normAutofit/>
          </a:bodyPr>
          <a:lstStyle/>
          <a:p>
            <a:pPr indent="0" marL="0">
              <a:buNone/>
            </a:pPr>
            <a:r>
              <a:rPr lang="en-US" sz="1220" b="1" dirty="0">
                <a:solidFill>
                  <a:srgbClr val="D2CADC"/>
                </a:solidFill>
                <a:latin typeface="Manrope" pitchFamily="34" charset="0"/>
                <a:ea typeface="Manrope" pitchFamily="34" charset="-122"/>
                <a:cs typeface="Manrope" pitchFamily="34" charset="-120"/>
              </a:rPr>
              <a:t>Documentos clínicos vinculados</a:t>
            </a:r>
            <a:endParaRPr lang="en-US" sz="1220" dirty="0"/>
          </a:p>
        </p:txBody>
      </p:sp>
      <p:sp>
        <p:nvSpPr>
          <p:cNvPr id="22" name="Text 20"/>
          <p:cNvSpPr/>
          <p:nvPr/>
        </p:nvSpPr>
        <p:spPr>
          <a:xfrm>
            <a:off x="6144768" y="4690872"/>
            <a:ext cx="384048" cy="201168"/>
          </a:xfrm>
          <a:prstGeom prst="rect">
            <a:avLst/>
          </a:prstGeom>
          <a:noFill/>
          <a:ln/>
        </p:spPr>
        <p:txBody>
          <a:bodyPr wrap="square" lIns="0" tIns="0" rIns="0" bIns="0" rtlCol="0" anchor="ctr"/>
          <a:lstStyle/>
          <a:p>
            <a:pPr indent="0" marL="0">
              <a:buNone/>
            </a:pPr>
            <a:r>
              <a:rPr lang="en-US" sz="900" b="1" dirty="0">
                <a:solidFill>
                  <a:srgbClr val="9B2CFF"/>
                </a:solidFill>
                <a:latin typeface="Manrope" pitchFamily="34" charset="0"/>
                <a:ea typeface="Manrope" pitchFamily="34" charset="-122"/>
                <a:cs typeface="Manrope" pitchFamily="34" charset="-120"/>
              </a:rPr>
              <a:t>05</a:t>
            </a:r>
            <a:endParaRPr lang="en-US" sz="900" dirty="0"/>
          </a:p>
        </p:txBody>
      </p:sp>
      <p:sp>
        <p:nvSpPr>
          <p:cNvPr id="23" name="Shape 21"/>
          <p:cNvSpPr/>
          <p:nvPr/>
        </p:nvSpPr>
        <p:spPr>
          <a:xfrm>
            <a:off x="6565392" y="4663440"/>
            <a:ext cx="4251960" cy="502920"/>
          </a:xfrm>
          <a:prstGeom prst="roundRect">
            <a:avLst>
              <a:gd name="adj" fmla="val 10909"/>
            </a:avLst>
          </a:prstGeom>
          <a:solidFill>
            <a:srgbClr val="15111D"/>
          </a:solidFill>
          <a:ln w="10160">
            <a:solidFill>
              <a:srgbClr val="2B2237"/>
            </a:solidFill>
            <a:prstDash val="solid"/>
          </a:ln>
        </p:spPr>
      </p:sp>
      <p:sp>
        <p:nvSpPr>
          <p:cNvPr id="24" name="Text 22"/>
          <p:cNvSpPr/>
          <p:nvPr/>
        </p:nvSpPr>
        <p:spPr>
          <a:xfrm>
            <a:off x="6784848" y="4791456"/>
            <a:ext cx="3794760" cy="164592"/>
          </a:xfrm>
          <a:prstGeom prst="rect">
            <a:avLst/>
          </a:prstGeom>
          <a:noFill/>
          <a:ln/>
        </p:spPr>
        <p:txBody>
          <a:bodyPr wrap="square" lIns="0" tIns="0" rIns="0" bIns="0" rtlCol="0" anchor="ctr">
            <a:normAutofit/>
          </a:bodyPr>
          <a:lstStyle/>
          <a:p>
            <a:pPr indent="0" marL="0">
              <a:buNone/>
            </a:pPr>
            <a:r>
              <a:rPr lang="en-US" sz="1220" b="1" dirty="0">
                <a:solidFill>
                  <a:srgbClr val="D2CADC"/>
                </a:solidFill>
                <a:latin typeface="Manrope" pitchFamily="34" charset="0"/>
                <a:ea typeface="Manrope" pitchFamily="34" charset="-122"/>
                <a:cs typeface="Manrope" pitchFamily="34" charset="-120"/>
              </a:rPr>
              <a:t>IA para resumen no diagnóstico</a:t>
            </a:r>
            <a:endParaRPr lang="en-US" sz="1220" dirty="0"/>
          </a:p>
        </p:txBody>
      </p:sp>
      <p:pic>
        <p:nvPicPr>
          <p:cNvPr id="25"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26" name="Text 23"/>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27" name="Text 24"/>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04</a:t>
            </a:r>
            <a:endParaRPr lang="en-US" sz="800" dirty="0"/>
          </a:p>
        </p:txBody>
      </p:sp>
      <p:sp>
        <p:nvSpPr>
          <p:cNvPr id="28" name="Shape 25"/>
          <p:cNvSpPr/>
          <p:nvPr/>
        </p:nvSpPr>
        <p:spPr>
          <a:xfrm>
            <a:off x="475488" y="6181344"/>
            <a:ext cx="11247120" cy="0"/>
          </a:xfrm>
          <a:prstGeom prst="line">
            <a:avLst/>
          </a:prstGeom>
          <a:noFill/>
          <a:ln w="8890">
            <a:solidFill>
              <a:srgbClr val="2B2237">
                <a:alpha val="75000"/>
              </a:srgbClr>
            </a:solidFill>
            <a:prstDash val="solid"/>
          </a:ln>
        </p:spPr>
      </p:sp>
      <p:sp>
        <p:nvSpPr>
          <p:cNvPr id="29" name="Text 26"/>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objetivos del perfil</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Propuesta funcional</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Clinia convierte datos dispersos en un historial útil y consultable.</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2130552" y="2880360"/>
            <a:ext cx="502920" cy="0"/>
          </a:xfrm>
          <a:prstGeom prst="line">
            <a:avLst/>
          </a:prstGeom>
          <a:noFill/>
          <a:ln w="20320">
            <a:solidFill>
              <a:srgbClr val="9B2CFF">
                <a:alpha val="85000"/>
              </a:srgbClr>
            </a:solidFill>
            <a:prstDash val="solid"/>
            <a:tailEnd type="triangle"/>
          </a:ln>
        </p:spPr>
      </p:sp>
      <p:sp>
        <p:nvSpPr>
          <p:cNvPr id="8" name="Shape 6"/>
          <p:cNvSpPr/>
          <p:nvPr/>
        </p:nvSpPr>
        <p:spPr>
          <a:xfrm>
            <a:off x="4306824" y="2880360"/>
            <a:ext cx="502920" cy="0"/>
          </a:xfrm>
          <a:prstGeom prst="line">
            <a:avLst/>
          </a:prstGeom>
          <a:noFill/>
          <a:ln w="20320">
            <a:solidFill>
              <a:srgbClr val="9B2CFF">
                <a:alpha val="85000"/>
              </a:srgbClr>
            </a:solidFill>
            <a:prstDash val="solid"/>
            <a:tailEnd type="triangle"/>
          </a:ln>
        </p:spPr>
      </p:sp>
      <p:sp>
        <p:nvSpPr>
          <p:cNvPr id="9" name="Shape 7"/>
          <p:cNvSpPr/>
          <p:nvPr/>
        </p:nvSpPr>
        <p:spPr>
          <a:xfrm>
            <a:off x="6483096" y="2880360"/>
            <a:ext cx="502920" cy="0"/>
          </a:xfrm>
          <a:prstGeom prst="line">
            <a:avLst/>
          </a:prstGeom>
          <a:noFill/>
          <a:ln w="20320">
            <a:solidFill>
              <a:srgbClr val="9B2CFF">
                <a:alpha val="85000"/>
              </a:srgbClr>
            </a:solidFill>
            <a:prstDash val="solid"/>
            <a:tailEnd type="triangle"/>
          </a:ln>
        </p:spPr>
      </p:sp>
      <p:sp>
        <p:nvSpPr>
          <p:cNvPr id="10" name="Shape 8"/>
          <p:cNvSpPr/>
          <p:nvPr/>
        </p:nvSpPr>
        <p:spPr>
          <a:xfrm>
            <a:off x="8659368" y="2880360"/>
            <a:ext cx="502920" cy="0"/>
          </a:xfrm>
          <a:prstGeom prst="line">
            <a:avLst/>
          </a:prstGeom>
          <a:noFill/>
          <a:ln w="20320">
            <a:solidFill>
              <a:srgbClr val="9B2CFF">
                <a:alpha val="85000"/>
              </a:srgbClr>
            </a:solidFill>
            <a:prstDash val="solid"/>
            <a:tailEnd type="triangle"/>
          </a:ln>
        </p:spPr>
      </p:sp>
      <p:sp>
        <p:nvSpPr>
          <p:cNvPr id="11" name="Shape 9"/>
          <p:cNvSpPr/>
          <p:nvPr/>
        </p:nvSpPr>
        <p:spPr>
          <a:xfrm>
            <a:off x="713232" y="2231136"/>
            <a:ext cx="1499616" cy="1298448"/>
          </a:xfrm>
          <a:prstGeom prst="roundRect">
            <a:avLst>
              <a:gd name="adj" fmla="val 5634"/>
            </a:avLst>
          </a:prstGeom>
          <a:solidFill>
            <a:srgbClr val="15111D"/>
          </a:solidFill>
          <a:ln w="10160">
            <a:solidFill>
              <a:srgbClr val="2B2237"/>
            </a:solidFill>
            <a:prstDash val="solid"/>
          </a:ln>
        </p:spPr>
      </p:sp>
      <p:sp>
        <p:nvSpPr>
          <p:cNvPr id="12" name="Text 10"/>
          <p:cNvSpPr/>
          <p:nvPr/>
        </p:nvSpPr>
        <p:spPr>
          <a:xfrm>
            <a:off x="859536" y="2386584"/>
            <a:ext cx="1207008"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Perfiles</a:t>
            </a:r>
            <a:endParaRPr lang="en-US" sz="1250" dirty="0"/>
          </a:p>
        </p:txBody>
      </p:sp>
      <p:sp>
        <p:nvSpPr>
          <p:cNvPr id="13" name="Text 11"/>
          <p:cNvSpPr/>
          <p:nvPr/>
        </p:nvSpPr>
        <p:spPr>
          <a:xfrm>
            <a:off x="859536" y="2724912"/>
            <a:ext cx="1207008"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propio y dependientes</a:t>
            </a:r>
            <a:endParaRPr lang="en-US" sz="880" dirty="0"/>
          </a:p>
        </p:txBody>
      </p:sp>
      <p:sp>
        <p:nvSpPr>
          <p:cNvPr id="14" name="Shape 12"/>
          <p:cNvSpPr/>
          <p:nvPr/>
        </p:nvSpPr>
        <p:spPr>
          <a:xfrm>
            <a:off x="2889504" y="2231136"/>
            <a:ext cx="1499616" cy="1298448"/>
          </a:xfrm>
          <a:prstGeom prst="roundRect">
            <a:avLst>
              <a:gd name="adj" fmla="val 5634"/>
            </a:avLst>
          </a:prstGeom>
          <a:solidFill>
            <a:srgbClr val="15111D"/>
          </a:solidFill>
          <a:ln w="10160">
            <a:solidFill>
              <a:srgbClr val="2B2237"/>
            </a:solidFill>
            <a:prstDash val="solid"/>
          </a:ln>
        </p:spPr>
      </p:sp>
      <p:sp>
        <p:nvSpPr>
          <p:cNvPr id="15" name="Text 13"/>
          <p:cNvSpPr/>
          <p:nvPr/>
        </p:nvSpPr>
        <p:spPr>
          <a:xfrm>
            <a:off x="3035808" y="2386584"/>
            <a:ext cx="1207008"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Eventos</a:t>
            </a:r>
            <a:endParaRPr lang="en-US" sz="1250" dirty="0"/>
          </a:p>
        </p:txBody>
      </p:sp>
      <p:sp>
        <p:nvSpPr>
          <p:cNvPr id="16" name="Text 14"/>
          <p:cNvSpPr/>
          <p:nvPr/>
        </p:nvSpPr>
        <p:spPr>
          <a:xfrm>
            <a:off x="3035808" y="2724912"/>
            <a:ext cx="1207008"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consultas, diagnósticos, tratamientos</a:t>
            </a:r>
            <a:endParaRPr lang="en-US" sz="880" dirty="0"/>
          </a:p>
        </p:txBody>
      </p:sp>
      <p:sp>
        <p:nvSpPr>
          <p:cNvPr id="17" name="Shape 15"/>
          <p:cNvSpPr/>
          <p:nvPr/>
        </p:nvSpPr>
        <p:spPr>
          <a:xfrm>
            <a:off x="5065776" y="2231136"/>
            <a:ext cx="1499616" cy="1298448"/>
          </a:xfrm>
          <a:prstGeom prst="roundRect">
            <a:avLst>
              <a:gd name="adj" fmla="val 5634"/>
            </a:avLst>
          </a:prstGeom>
          <a:solidFill>
            <a:srgbClr val="15111D"/>
          </a:solidFill>
          <a:ln w="10160">
            <a:solidFill>
              <a:srgbClr val="2B2237"/>
            </a:solidFill>
            <a:prstDash val="solid"/>
          </a:ln>
        </p:spPr>
      </p:sp>
      <p:sp>
        <p:nvSpPr>
          <p:cNvPr id="18" name="Text 16"/>
          <p:cNvSpPr/>
          <p:nvPr/>
        </p:nvSpPr>
        <p:spPr>
          <a:xfrm>
            <a:off x="5212080" y="2386584"/>
            <a:ext cx="1207008"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Documentos</a:t>
            </a:r>
            <a:endParaRPr lang="en-US" sz="1250" dirty="0"/>
          </a:p>
        </p:txBody>
      </p:sp>
      <p:sp>
        <p:nvSpPr>
          <p:cNvPr id="19" name="Text 17"/>
          <p:cNvSpPr/>
          <p:nvPr/>
        </p:nvSpPr>
        <p:spPr>
          <a:xfrm>
            <a:off x="5212080" y="2724912"/>
            <a:ext cx="1207008"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PDF, resultados e imágenes digitalizadas</a:t>
            </a:r>
            <a:endParaRPr lang="en-US" sz="880" dirty="0"/>
          </a:p>
        </p:txBody>
      </p:sp>
      <p:sp>
        <p:nvSpPr>
          <p:cNvPr id="20" name="Shape 18"/>
          <p:cNvSpPr/>
          <p:nvPr/>
        </p:nvSpPr>
        <p:spPr>
          <a:xfrm>
            <a:off x="7242048" y="2231136"/>
            <a:ext cx="1499616" cy="1298448"/>
          </a:xfrm>
          <a:prstGeom prst="roundRect">
            <a:avLst>
              <a:gd name="adj" fmla="val 5634"/>
            </a:avLst>
          </a:prstGeom>
          <a:solidFill>
            <a:srgbClr val="15111D"/>
          </a:solidFill>
          <a:ln w="10160">
            <a:solidFill>
              <a:srgbClr val="2B2237"/>
            </a:solidFill>
            <a:prstDash val="solid"/>
          </a:ln>
        </p:spPr>
      </p:sp>
      <p:sp>
        <p:nvSpPr>
          <p:cNvPr id="21" name="Text 19"/>
          <p:cNvSpPr/>
          <p:nvPr/>
        </p:nvSpPr>
        <p:spPr>
          <a:xfrm>
            <a:off x="7388352" y="2386584"/>
            <a:ext cx="1207008"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Línea de tiempo</a:t>
            </a:r>
            <a:endParaRPr lang="en-US" sz="1250" dirty="0"/>
          </a:p>
        </p:txBody>
      </p:sp>
      <p:sp>
        <p:nvSpPr>
          <p:cNvPr id="22" name="Text 20"/>
          <p:cNvSpPr/>
          <p:nvPr/>
        </p:nvSpPr>
        <p:spPr>
          <a:xfrm>
            <a:off x="7388352" y="2724912"/>
            <a:ext cx="1207008"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búsqueda, filtros y vistas resumidas</a:t>
            </a:r>
            <a:endParaRPr lang="en-US" sz="880" dirty="0"/>
          </a:p>
        </p:txBody>
      </p:sp>
      <p:sp>
        <p:nvSpPr>
          <p:cNvPr id="23" name="Shape 21"/>
          <p:cNvSpPr/>
          <p:nvPr/>
        </p:nvSpPr>
        <p:spPr>
          <a:xfrm>
            <a:off x="9418320" y="2231136"/>
            <a:ext cx="1499616" cy="1298448"/>
          </a:xfrm>
          <a:prstGeom prst="roundRect">
            <a:avLst>
              <a:gd name="adj" fmla="val 5634"/>
            </a:avLst>
          </a:prstGeom>
          <a:solidFill>
            <a:srgbClr val="1D1728"/>
          </a:solidFill>
          <a:ln w="10160">
            <a:solidFill>
              <a:srgbClr val="2B2237"/>
            </a:solidFill>
            <a:prstDash val="solid"/>
          </a:ln>
        </p:spPr>
      </p:sp>
      <p:sp>
        <p:nvSpPr>
          <p:cNvPr id="24" name="Text 22"/>
          <p:cNvSpPr/>
          <p:nvPr/>
        </p:nvSpPr>
        <p:spPr>
          <a:xfrm>
            <a:off x="9564624" y="2386584"/>
            <a:ext cx="1207008"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IA</a:t>
            </a:r>
            <a:endParaRPr lang="en-US" sz="1250" dirty="0"/>
          </a:p>
        </p:txBody>
      </p:sp>
      <p:sp>
        <p:nvSpPr>
          <p:cNvPr id="25" name="Text 23"/>
          <p:cNvSpPr/>
          <p:nvPr/>
        </p:nvSpPr>
        <p:spPr>
          <a:xfrm>
            <a:off x="9564624" y="2724912"/>
            <a:ext cx="1207008" cy="7315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resumen no diagnóstico y vacíos</a:t>
            </a:r>
            <a:endParaRPr lang="en-US" sz="880" dirty="0"/>
          </a:p>
        </p:txBody>
      </p:sp>
      <p:sp>
        <p:nvSpPr>
          <p:cNvPr id="26" name="Text 24"/>
          <p:cNvSpPr/>
          <p:nvPr/>
        </p:nvSpPr>
        <p:spPr>
          <a:xfrm>
            <a:off x="987552" y="4251960"/>
            <a:ext cx="2377440" cy="274320"/>
          </a:xfrm>
          <a:prstGeom prst="rect">
            <a:avLst/>
          </a:prstGeom>
          <a:noFill/>
          <a:ln/>
        </p:spPr>
        <p:txBody>
          <a:bodyPr wrap="square" lIns="0" tIns="0" rIns="0" bIns="0" rtlCol="0" anchor="ctr"/>
          <a:lstStyle/>
          <a:p>
            <a:pPr indent="0" marL="0">
              <a:buNone/>
            </a:pPr>
            <a:r>
              <a:rPr lang="en-US" sz="1100" b="1" dirty="0">
                <a:solidFill>
                  <a:srgbClr val="C084FC"/>
                </a:solidFill>
                <a:latin typeface="Manrope" pitchFamily="34" charset="0"/>
                <a:ea typeface="Manrope" pitchFamily="34" charset="-122"/>
                <a:cs typeface="Manrope" pitchFamily="34" charset="-120"/>
              </a:rPr>
              <a:t>Resultado esperado</a:t>
            </a:r>
            <a:endParaRPr lang="en-US" sz="1100" dirty="0"/>
          </a:p>
        </p:txBody>
      </p:sp>
      <p:sp>
        <p:nvSpPr>
          <p:cNvPr id="27" name="Text 25"/>
          <p:cNvSpPr/>
          <p:nvPr/>
        </p:nvSpPr>
        <p:spPr>
          <a:xfrm>
            <a:off x="987552" y="4626864"/>
            <a:ext cx="10149840" cy="530352"/>
          </a:xfrm>
          <a:prstGeom prst="rect">
            <a:avLst/>
          </a:prstGeom>
          <a:noFill/>
          <a:ln/>
        </p:spPr>
        <p:txBody>
          <a:bodyPr wrap="square" lIns="0" tIns="0" rIns="0" bIns="0" rtlCol="0" anchor="ctr">
            <a:normAutofit/>
          </a:bodyPr>
          <a:lstStyle/>
          <a:p>
            <a:pPr indent="0" marL="0">
              <a:buNone/>
            </a:pPr>
            <a:r>
              <a:rPr lang="en-US" sz="2000" b="1" dirty="0">
                <a:solidFill>
                  <a:srgbClr val="D2CADC"/>
                </a:solidFill>
                <a:latin typeface="Manrope" pitchFamily="34" charset="0"/>
                <a:ea typeface="Manrope" pitchFamily="34" charset="-122"/>
                <a:cs typeface="Manrope" pitchFamily="34" charset="-120"/>
              </a:rPr>
              <a:t>El usuario puede registrar, localizar y preparar información relevante antes de una atención médica, sin depender solo de documentos aislados o memoria.</a:t>
            </a:r>
            <a:endParaRPr lang="en-US" sz="2000" dirty="0"/>
          </a:p>
        </p:txBody>
      </p:sp>
      <p:pic>
        <p:nvPicPr>
          <p:cNvPr id="28"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29" name="Text 26"/>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0" name="Text 27"/>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05</a:t>
            </a:r>
            <a:endParaRPr lang="en-US" sz="800" dirty="0"/>
          </a:p>
        </p:txBody>
      </p:sp>
      <p:sp>
        <p:nvSpPr>
          <p:cNvPr id="31" name="Shape 28"/>
          <p:cNvSpPr/>
          <p:nvPr/>
        </p:nvSpPr>
        <p:spPr>
          <a:xfrm>
            <a:off x="475488" y="6181344"/>
            <a:ext cx="11247120" cy="0"/>
          </a:xfrm>
          <a:prstGeom prst="line">
            <a:avLst/>
          </a:prstGeom>
          <a:noFill/>
          <a:ln w="8890">
            <a:solidFill>
              <a:srgbClr val="2B2237">
                <a:alpha val="75000"/>
              </a:srgbClr>
            </a:solidFill>
            <a:prstDash val="solid"/>
          </a:ln>
        </p:spPr>
      </p:sp>
      <p:sp>
        <p:nvSpPr>
          <p:cNvPr id="32" name="Text 29"/>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introducción y alcance</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Alcance y límites</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Primera versión académica: útil, pero acotada.</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786384" y="1645920"/>
            <a:ext cx="4983480" cy="3520440"/>
          </a:xfrm>
          <a:prstGeom prst="roundRect">
            <a:avLst>
              <a:gd name="adj" fmla="val 2078"/>
            </a:avLst>
          </a:prstGeom>
          <a:solidFill>
            <a:srgbClr val="15111D"/>
          </a:solidFill>
          <a:ln w="15240">
            <a:solidFill>
              <a:srgbClr val="9B2CFF">
                <a:alpha val="65000"/>
              </a:srgbClr>
            </a:solidFill>
            <a:prstDash val="solid"/>
          </a:ln>
        </p:spPr>
      </p:sp>
      <p:sp>
        <p:nvSpPr>
          <p:cNvPr id="8" name="Text 6"/>
          <p:cNvSpPr/>
          <p:nvPr/>
        </p:nvSpPr>
        <p:spPr>
          <a:xfrm>
            <a:off x="1078992" y="1938528"/>
            <a:ext cx="1645920" cy="219456"/>
          </a:xfrm>
          <a:prstGeom prst="rect">
            <a:avLst/>
          </a:prstGeom>
          <a:noFill/>
          <a:ln/>
        </p:spPr>
        <p:txBody>
          <a:bodyPr wrap="square" lIns="0" tIns="0" rIns="0" bIns="0" rtlCol="0" anchor="ctr"/>
          <a:lstStyle/>
          <a:p>
            <a:pPr indent="0" marL="0">
              <a:buNone/>
            </a:pPr>
            <a:r>
              <a:rPr lang="en-US" sz="1000" b="1" dirty="0">
                <a:solidFill>
                  <a:srgbClr val="C084FC"/>
                </a:solidFill>
                <a:latin typeface="Manrope" pitchFamily="34" charset="0"/>
                <a:ea typeface="Manrope" pitchFamily="34" charset="-122"/>
                <a:cs typeface="Manrope" pitchFamily="34" charset="-120"/>
              </a:rPr>
              <a:t>SÍ INCLUYE</a:t>
            </a:r>
            <a:endParaRPr lang="en-US" sz="1000" dirty="0"/>
          </a:p>
        </p:txBody>
      </p:sp>
      <p:sp>
        <p:nvSpPr>
          <p:cNvPr id="9" name="Shape 7"/>
          <p:cNvSpPr/>
          <p:nvPr/>
        </p:nvSpPr>
        <p:spPr>
          <a:xfrm>
            <a:off x="1078992" y="2496312"/>
            <a:ext cx="82296" cy="82296"/>
          </a:xfrm>
          <a:prstGeom prst="ellipse">
            <a:avLst/>
          </a:prstGeom>
          <a:solidFill>
            <a:srgbClr val="9B2CFF"/>
          </a:solidFill>
          <a:ln w="12700">
            <a:solidFill>
              <a:srgbClr val="9B2CFF">
                <a:alpha val="0"/>
              </a:srgbClr>
            </a:solidFill>
            <a:prstDash val="solid"/>
          </a:ln>
        </p:spPr>
      </p:sp>
      <p:sp>
        <p:nvSpPr>
          <p:cNvPr id="10" name="Text 8"/>
          <p:cNvSpPr/>
          <p:nvPr/>
        </p:nvSpPr>
        <p:spPr>
          <a:xfrm>
            <a:off x="1261872" y="2423160"/>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Diseño, construcción y evaluación académica</a:t>
            </a:r>
            <a:endParaRPr lang="en-US" sz="1300" dirty="0"/>
          </a:p>
        </p:txBody>
      </p:sp>
      <p:sp>
        <p:nvSpPr>
          <p:cNvPr id="11" name="Shape 9"/>
          <p:cNvSpPr/>
          <p:nvPr/>
        </p:nvSpPr>
        <p:spPr>
          <a:xfrm>
            <a:off x="1078992" y="2935224"/>
            <a:ext cx="82296" cy="82296"/>
          </a:xfrm>
          <a:prstGeom prst="ellipse">
            <a:avLst/>
          </a:prstGeom>
          <a:solidFill>
            <a:srgbClr val="9B2CFF"/>
          </a:solidFill>
          <a:ln w="12700">
            <a:solidFill>
              <a:srgbClr val="9B2CFF">
                <a:alpha val="0"/>
              </a:srgbClr>
            </a:solidFill>
            <a:prstDash val="solid"/>
          </a:ln>
        </p:spPr>
      </p:sp>
      <p:sp>
        <p:nvSpPr>
          <p:cNvPr id="12" name="Text 10"/>
          <p:cNvSpPr/>
          <p:nvPr/>
        </p:nvSpPr>
        <p:spPr>
          <a:xfrm>
            <a:off x="1261872" y="2862072"/>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Android y Web con cuentas autenticadas</a:t>
            </a:r>
            <a:endParaRPr lang="en-US" sz="1300" dirty="0"/>
          </a:p>
        </p:txBody>
      </p:sp>
      <p:sp>
        <p:nvSpPr>
          <p:cNvPr id="13" name="Shape 11"/>
          <p:cNvSpPr/>
          <p:nvPr/>
        </p:nvSpPr>
        <p:spPr>
          <a:xfrm>
            <a:off x="1078992" y="3374136"/>
            <a:ext cx="82296" cy="82296"/>
          </a:xfrm>
          <a:prstGeom prst="ellipse">
            <a:avLst/>
          </a:prstGeom>
          <a:solidFill>
            <a:srgbClr val="9B2CFF"/>
          </a:solidFill>
          <a:ln w="12700">
            <a:solidFill>
              <a:srgbClr val="9B2CFF">
                <a:alpha val="0"/>
              </a:srgbClr>
            </a:solidFill>
            <a:prstDash val="solid"/>
          </a:ln>
        </p:spPr>
      </p:sp>
      <p:sp>
        <p:nvSpPr>
          <p:cNvPr id="14" name="Text 12"/>
          <p:cNvSpPr/>
          <p:nvPr/>
        </p:nvSpPr>
        <p:spPr>
          <a:xfrm>
            <a:off x="1261872" y="3300984"/>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Perfiles propios y dependientes</a:t>
            </a:r>
            <a:endParaRPr lang="en-US" sz="1300" dirty="0"/>
          </a:p>
        </p:txBody>
      </p:sp>
      <p:sp>
        <p:nvSpPr>
          <p:cNvPr id="15" name="Shape 13"/>
          <p:cNvSpPr/>
          <p:nvPr/>
        </p:nvSpPr>
        <p:spPr>
          <a:xfrm>
            <a:off x="1078992" y="3813048"/>
            <a:ext cx="82296" cy="82296"/>
          </a:xfrm>
          <a:prstGeom prst="ellipse">
            <a:avLst/>
          </a:prstGeom>
          <a:solidFill>
            <a:srgbClr val="9B2CFF"/>
          </a:solidFill>
          <a:ln w="12700">
            <a:solidFill>
              <a:srgbClr val="9B2CFF">
                <a:alpha val="0"/>
              </a:srgbClr>
            </a:solidFill>
            <a:prstDash val="solid"/>
          </a:ln>
        </p:spPr>
      </p:sp>
      <p:sp>
        <p:nvSpPr>
          <p:cNvPr id="16" name="Text 14"/>
          <p:cNvSpPr/>
          <p:nvPr/>
        </p:nvSpPr>
        <p:spPr>
          <a:xfrm>
            <a:off x="1261872" y="3739896"/>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Eventos de salud y documentos vinculados</a:t>
            </a:r>
            <a:endParaRPr lang="en-US" sz="1300" dirty="0"/>
          </a:p>
        </p:txBody>
      </p:sp>
      <p:sp>
        <p:nvSpPr>
          <p:cNvPr id="17" name="Shape 15"/>
          <p:cNvSpPr/>
          <p:nvPr/>
        </p:nvSpPr>
        <p:spPr>
          <a:xfrm>
            <a:off x="1078992" y="4251960"/>
            <a:ext cx="82296" cy="82296"/>
          </a:xfrm>
          <a:prstGeom prst="ellipse">
            <a:avLst/>
          </a:prstGeom>
          <a:solidFill>
            <a:srgbClr val="9B2CFF"/>
          </a:solidFill>
          <a:ln w="12700">
            <a:solidFill>
              <a:srgbClr val="9B2CFF">
                <a:alpha val="0"/>
              </a:srgbClr>
            </a:solidFill>
            <a:prstDash val="solid"/>
          </a:ln>
        </p:spPr>
      </p:sp>
      <p:sp>
        <p:nvSpPr>
          <p:cNvPr id="18" name="Text 16"/>
          <p:cNvSpPr/>
          <p:nvPr/>
        </p:nvSpPr>
        <p:spPr>
          <a:xfrm>
            <a:off x="1261872" y="4178808"/>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IA sobre información seleccionada</a:t>
            </a:r>
            <a:endParaRPr lang="en-US" sz="1300" dirty="0"/>
          </a:p>
        </p:txBody>
      </p:sp>
      <p:sp>
        <p:nvSpPr>
          <p:cNvPr id="19" name="Shape 17"/>
          <p:cNvSpPr/>
          <p:nvPr/>
        </p:nvSpPr>
        <p:spPr>
          <a:xfrm>
            <a:off x="6428232" y="1645920"/>
            <a:ext cx="4983480" cy="3520440"/>
          </a:xfrm>
          <a:prstGeom prst="roundRect">
            <a:avLst>
              <a:gd name="adj" fmla="val 2078"/>
            </a:avLst>
          </a:prstGeom>
          <a:solidFill>
            <a:srgbClr val="15111D"/>
          </a:solidFill>
          <a:ln w="15240">
            <a:solidFill>
              <a:srgbClr val="6D28D9">
                <a:alpha val="72000"/>
              </a:srgbClr>
            </a:solidFill>
            <a:prstDash val="solid"/>
          </a:ln>
        </p:spPr>
      </p:sp>
      <p:sp>
        <p:nvSpPr>
          <p:cNvPr id="20" name="Text 18"/>
          <p:cNvSpPr/>
          <p:nvPr/>
        </p:nvSpPr>
        <p:spPr>
          <a:xfrm>
            <a:off x="6720840" y="1938528"/>
            <a:ext cx="1737360" cy="219456"/>
          </a:xfrm>
          <a:prstGeom prst="rect">
            <a:avLst/>
          </a:prstGeom>
          <a:noFill/>
          <a:ln/>
        </p:spPr>
        <p:txBody>
          <a:bodyPr wrap="square" lIns="0" tIns="0" rIns="0" bIns="0" rtlCol="0" anchor="ctr"/>
          <a:lstStyle/>
          <a:p>
            <a:pPr indent="0" marL="0">
              <a:buNone/>
            </a:pPr>
            <a:r>
              <a:rPr lang="en-US" sz="1000" b="1" dirty="0">
                <a:solidFill>
                  <a:srgbClr val="C084FC"/>
                </a:solidFill>
                <a:latin typeface="Manrope" pitchFamily="34" charset="0"/>
                <a:ea typeface="Manrope" pitchFamily="34" charset="-122"/>
                <a:cs typeface="Manrope" pitchFamily="34" charset="-120"/>
              </a:rPr>
              <a:t>NO INCLUYE</a:t>
            </a:r>
            <a:endParaRPr lang="en-US" sz="1000" dirty="0"/>
          </a:p>
        </p:txBody>
      </p:sp>
      <p:sp>
        <p:nvSpPr>
          <p:cNvPr id="21" name="Shape 19"/>
          <p:cNvSpPr/>
          <p:nvPr/>
        </p:nvSpPr>
        <p:spPr>
          <a:xfrm>
            <a:off x="6720840" y="2496312"/>
            <a:ext cx="82296" cy="82296"/>
          </a:xfrm>
          <a:prstGeom prst="ellipse">
            <a:avLst/>
          </a:prstGeom>
          <a:solidFill>
            <a:srgbClr val="9B2CFF"/>
          </a:solidFill>
          <a:ln w="12700">
            <a:solidFill>
              <a:srgbClr val="9B2CFF">
                <a:alpha val="0"/>
              </a:srgbClr>
            </a:solidFill>
            <a:prstDash val="solid"/>
          </a:ln>
        </p:spPr>
      </p:sp>
      <p:sp>
        <p:nvSpPr>
          <p:cNvPr id="22" name="Text 20"/>
          <p:cNvSpPr/>
          <p:nvPr/>
        </p:nvSpPr>
        <p:spPr>
          <a:xfrm>
            <a:off x="6903720" y="2423160"/>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No reemplaza la historia clínica oficial</a:t>
            </a:r>
            <a:endParaRPr lang="en-US" sz="1300" dirty="0"/>
          </a:p>
        </p:txBody>
      </p:sp>
      <p:sp>
        <p:nvSpPr>
          <p:cNvPr id="23" name="Shape 21"/>
          <p:cNvSpPr/>
          <p:nvPr/>
        </p:nvSpPr>
        <p:spPr>
          <a:xfrm>
            <a:off x="6720840" y="2935224"/>
            <a:ext cx="82296" cy="82296"/>
          </a:xfrm>
          <a:prstGeom prst="ellipse">
            <a:avLst/>
          </a:prstGeom>
          <a:solidFill>
            <a:srgbClr val="9B2CFF"/>
          </a:solidFill>
          <a:ln w="12700">
            <a:solidFill>
              <a:srgbClr val="9B2CFF">
                <a:alpha val="0"/>
              </a:srgbClr>
            </a:solidFill>
            <a:prstDash val="solid"/>
          </a:ln>
        </p:spPr>
      </p:sp>
      <p:sp>
        <p:nvSpPr>
          <p:cNvPr id="24" name="Text 22"/>
          <p:cNvSpPr/>
          <p:nvPr/>
        </p:nvSpPr>
        <p:spPr>
          <a:xfrm>
            <a:off x="6903720" y="2862072"/>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No interoperabilidad automática institucional</a:t>
            </a:r>
            <a:endParaRPr lang="en-US" sz="1300" dirty="0"/>
          </a:p>
        </p:txBody>
      </p:sp>
      <p:sp>
        <p:nvSpPr>
          <p:cNvPr id="25" name="Shape 23"/>
          <p:cNvSpPr/>
          <p:nvPr/>
        </p:nvSpPr>
        <p:spPr>
          <a:xfrm>
            <a:off x="6720840" y="3374136"/>
            <a:ext cx="82296" cy="82296"/>
          </a:xfrm>
          <a:prstGeom prst="ellipse">
            <a:avLst/>
          </a:prstGeom>
          <a:solidFill>
            <a:srgbClr val="9B2CFF"/>
          </a:solidFill>
          <a:ln w="12700">
            <a:solidFill>
              <a:srgbClr val="9B2CFF">
                <a:alpha val="0"/>
              </a:srgbClr>
            </a:solidFill>
            <a:prstDash val="solid"/>
          </a:ln>
        </p:spPr>
      </p:sp>
      <p:sp>
        <p:nvSpPr>
          <p:cNvPr id="26" name="Text 24"/>
          <p:cNvSpPr/>
          <p:nvPr/>
        </p:nvSpPr>
        <p:spPr>
          <a:xfrm>
            <a:off x="6903720" y="3300984"/>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No diagnóstico ni prescripción médica</a:t>
            </a:r>
            <a:endParaRPr lang="en-US" sz="1300" dirty="0"/>
          </a:p>
        </p:txBody>
      </p:sp>
      <p:sp>
        <p:nvSpPr>
          <p:cNvPr id="27" name="Shape 25"/>
          <p:cNvSpPr/>
          <p:nvPr/>
        </p:nvSpPr>
        <p:spPr>
          <a:xfrm>
            <a:off x="6720840" y="3813048"/>
            <a:ext cx="82296" cy="82296"/>
          </a:xfrm>
          <a:prstGeom prst="ellipse">
            <a:avLst/>
          </a:prstGeom>
          <a:solidFill>
            <a:srgbClr val="9B2CFF"/>
          </a:solidFill>
          <a:ln w="12700">
            <a:solidFill>
              <a:srgbClr val="9B2CFF">
                <a:alpha val="0"/>
              </a:srgbClr>
            </a:solidFill>
            <a:prstDash val="solid"/>
          </a:ln>
        </p:spPr>
      </p:sp>
      <p:sp>
        <p:nvSpPr>
          <p:cNvPr id="28" name="Text 26"/>
          <p:cNvSpPr/>
          <p:nvPr/>
        </p:nvSpPr>
        <p:spPr>
          <a:xfrm>
            <a:off x="6903720" y="3739896"/>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No interpretación especializada de imágenes</a:t>
            </a:r>
            <a:endParaRPr lang="en-US" sz="1300" dirty="0"/>
          </a:p>
        </p:txBody>
      </p:sp>
      <p:sp>
        <p:nvSpPr>
          <p:cNvPr id="29" name="Shape 27"/>
          <p:cNvSpPr/>
          <p:nvPr/>
        </p:nvSpPr>
        <p:spPr>
          <a:xfrm>
            <a:off x="6720840" y="4251960"/>
            <a:ext cx="82296" cy="82296"/>
          </a:xfrm>
          <a:prstGeom prst="ellipse">
            <a:avLst/>
          </a:prstGeom>
          <a:solidFill>
            <a:srgbClr val="9B2CFF"/>
          </a:solidFill>
          <a:ln w="12700">
            <a:solidFill>
              <a:srgbClr val="9B2CFF">
                <a:alpha val="0"/>
              </a:srgbClr>
            </a:solidFill>
            <a:prstDash val="solid"/>
          </a:ln>
        </p:spPr>
      </p:sp>
      <p:sp>
        <p:nvSpPr>
          <p:cNvPr id="30" name="Text 28"/>
          <p:cNvSpPr/>
          <p:nvPr/>
        </p:nvSpPr>
        <p:spPr>
          <a:xfrm>
            <a:off x="6903720" y="4178808"/>
            <a:ext cx="4114800" cy="292608"/>
          </a:xfrm>
          <a:prstGeom prst="rect">
            <a:avLst/>
          </a:prstGeom>
          <a:noFill/>
          <a:ln/>
        </p:spPr>
        <p:txBody>
          <a:bodyPr wrap="square" lIns="0" tIns="0" rIns="0" bIns="0" rtlCol="0" anchor="ctr">
            <a:normAutofit/>
          </a:bodyPr>
          <a:lstStyle/>
          <a:p>
            <a:pPr algn="l" indent="0" marL="0">
              <a:buNone/>
            </a:pPr>
            <a:r>
              <a:rPr lang="en-US" sz="1300" dirty="0">
                <a:solidFill>
                  <a:srgbClr val="D2CADC"/>
                </a:solidFill>
                <a:latin typeface="Manrope" pitchFamily="34" charset="0"/>
                <a:ea typeface="Manrope" pitchFamily="34" charset="-122"/>
                <a:cs typeface="Manrope" pitchFamily="34" charset="-120"/>
              </a:rPr>
              <a:t>No certificación como dispositivo médico</a:t>
            </a:r>
            <a:endParaRPr lang="en-US" sz="1300" dirty="0"/>
          </a:p>
        </p:txBody>
      </p:sp>
      <p:pic>
        <p:nvPicPr>
          <p:cNvPr id="31"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2" name="Text 29"/>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3" name="Text 30"/>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06</a:t>
            </a:r>
            <a:endParaRPr lang="en-US" sz="800" dirty="0"/>
          </a:p>
        </p:txBody>
      </p:sp>
      <p:sp>
        <p:nvSpPr>
          <p:cNvPr id="34" name="Shape 31"/>
          <p:cNvSpPr/>
          <p:nvPr/>
        </p:nvSpPr>
        <p:spPr>
          <a:xfrm>
            <a:off x="475488" y="6181344"/>
            <a:ext cx="11247120" cy="0"/>
          </a:xfrm>
          <a:prstGeom prst="line">
            <a:avLst/>
          </a:prstGeom>
          <a:noFill/>
          <a:ln w="8890">
            <a:solidFill>
              <a:srgbClr val="2B2237">
                <a:alpha val="75000"/>
              </a:srgbClr>
            </a:solidFill>
            <a:prstDash val="solid"/>
          </a:ln>
        </p:spPr>
      </p:sp>
      <p:sp>
        <p:nvSpPr>
          <p:cNvPr id="35" name="Text 32"/>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alcance y límites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IA responsable</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El módulo analiza solo información seleccionada y nunca emite decisiones clínicas.</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2706624" y="3657600"/>
            <a:ext cx="548640" cy="0"/>
          </a:xfrm>
          <a:prstGeom prst="line">
            <a:avLst/>
          </a:prstGeom>
          <a:noFill/>
          <a:ln w="22860">
            <a:solidFill>
              <a:srgbClr val="9B2CFF"/>
            </a:solidFill>
            <a:prstDash val="solid"/>
            <a:tailEnd type="triangle"/>
          </a:ln>
        </p:spPr>
      </p:sp>
      <p:sp>
        <p:nvSpPr>
          <p:cNvPr id="8" name="Shape 6"/>
          <p:cNvSpPr/>
          <p:nvPr/>
        </p:nvSpPr>
        <p:spPr>
          <a:xfrm>
            <a:off x="5312664" y="3657600"/>
            <a:ext cx="548640" cy="0"/>
          </a:xfrm>
          <a:prstGeom prst="line">
            <a:avLst/>
          </a:prstGeom>
          <a:noFill/>
          <a:ln w="22860">
            <a:solidFill>
              <a:srgbClr val="9B2CFF"/>
            </a:solidFill>
            <a:prstDash val="solid"/>
            <a:tailEnd type="triangle"/>
          </a:ln>
        </p:spPr>
      </p:sp>
      <p:sp>
        <p:nvSpPr>
          <p:cNvPr id="9" name="Shape 7"/>
          <p:cNvSpPr/>
          <p:nvPr/>
        </p:nvSpPr>
        <p:spPr>
          <a:xfrm>
            <a:off x="7918704" y="3657600"/>
            <a:ext cx="548640" cy="0"/>
          </a:xfrm>
          <a:prstGeom prst="line">
            <a:avLst/>
          </a:prstGeom>
          <a:noFill/>
          <a:ln w="22860">
            <a:solidFill>
              <a:srgbClr val="9B2CFF"/>
            </a:solidFill>
            <a:prstDash val="solid"/>
            <a:tailEnd type="triangle"/>
          </a:ln>
        </p:spPr>
      </p:sp>
      <p:sp>
        <p:nvSpPr>
          <p:cNvPr id="10" name="Shape 8"/>
          <p:cNvSpPr/>
          <p:nvPr/>
        </p:nvSpPr>
        <p:spPr>
          <a:xfrm>
            <a:off x="841248" y="3246120"/>
            <a:ext cx="1737360" cy="841248"/>
          </a:xfrm>
          <a:prstGeom prst="roundRect">
            <a:avLst>
              <a:gd name="adj" fmla="val 8696"/>
            </a:avLst>
          </a:prstGeom>
          <a:solidFill>
            <a:srgbClr val="15111D"/>
          </a:solidFill>
          <a:ln w="10160">
            <a:solidFill>
              <a:srgbClr val="2B2237"/>
            </a:solidFill>
            <a:prstDash val="solid"/>
          </a:ln>
        </p:spPr>
      </p:sp>
      <p:sp>
        <p:nvSpPr>
          <p:cNvPr id="11" name="Text 9"/>
          <p:cNvSpPr/>
          <p:nvPr/>
        </p:nvSpPr>
        <p:spPr>
          <a:xfrm>
            <a:off x="987552" y="3401568"/>
            <a:ext cx="144475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Usuario</a:t>
            </a:r>
            <a:endParaRPr lang="en-US" sz="1250" dirty="0"/>
          </a:p>
        </p:txBody>
      </p:sp>
      <p:sp>
        <p:nvSpPr>
          <p:cNvPr id="12" name="Text 10"/>
          <p:cNvSpPr/>
          <p:nvPr/>
        </p:nvSpPr>
        <p:spPr>
          <a:xfrm>
            <a:off x="987552" y="3739896"/>
            <a:ext cx="1444752" cy="2743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selecciona datos</a:t>
            </a:r>
            <a:endParaRPr lang="en-US" sz="880" dirty="0"/>
          </a:p>
        </p:txBody>
      </p:sp>
      <p:sp>
        <p:nvSpPr>
          <p:cNvPr id="13" name="Shape 11"/>
          <p:cNvSpPr/>
          <p:nvPr/>
        </p:nvSpPr>
        <p:spPr>
          <a:xfrm>
            <a:off x="3246120" y="3246120"/>
            <a:ext cx="1828800" cy="841248"/>
          </a:xfrm>
          <a:prstGeom prst="roundRect">
            <a:avLst>
              <a:gd name="adj" fmla="val 8696"/>
            </a:avLst>
          </a:prstGeom>
          <a:solidFill>
            <a:srgbClr val="15111D"/>
          </a:solidFill>
          <a:ln w="10160">
            <a:solidFill>
              <a:srgbClr val="2B2237"/>
            </a:solidFill>
            <a:prstDash val="solid"/>
          </a:ln>
        </p:spPr>
      </p:sp>
      <p:sp>
        <p:nvSpPr>
          <p:cNvPr id="14" name="Text 12"/>
          <p:cNvSpPr/>
          <p:nvPr/>
        </p:nvSpPr>
        <p:spPr>
          <a:xfrm>
            <a:off x="3392424" y="3401568"/>
            <a:ext cx="153619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Backend</a:t>
            </a:r>
            <a:endParaRPr lang="en-US" sz="1250" dirty="0"/>
          </a:p>
        </p:txBody>
      </p:sp>
      <p:sp>
        <p:nvSpPr>
          <p:cNvPr id="15" name="Text 13"/>
          <p:cNvSpPr/>
          <p:nvPr/>
        </p:nvSpPr>
        <p:spPr>
          <a:xfrm>
            <a:off x="3392424" y="3739896"/>
            <a:ext cx="1536192" cy="2743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reduce contexto</a:t>
            </a:r>
            <a:endParaRPr lang="en-US" sz="880" dirty="0"/>
          </a:p>
        </p:txBody>
      </p:sp>
      <p:sp>
        <p:nvSpPr>
          <p:cNvPr id="16" name="Shape 14"/>
          <p:cNvSpPr/>
          <p:nvPr/>
        </p:nvSpPr>
        <p:spPr>
          <a:xfrm>
            <a:off x="5833872" y="3246120"/>
            <a:ext cx="1828800" cy="841248"/>
          </a:xfrm>
          <a:prstGeom prst="roundRect">
            <a:avLst>
              <a:gd name="adj" fmla="val 8696"/>
            </a:avLst>
          </a:prstGeom>
          <a:solidFill>
            <a:srgbClr val="15111D"/>
          </a:solidFill>
          <a:ln w="10160">
            <a:solidFill>
              <a:srgbClr val="2B2237"/>
            </a:solidFill>
            <a:prstDash val="solid"/>
          </a:ln>
        </p:spPr>
      </p:sp>
      <p:sp>
        <p:nvSpPr>
          <p:cNvPr id="17" name="Text 15"/>
          <p:cNvSpPr/>
          <p:nvPr/>
        </p:nvSpPr>
        <p:spPr>
          <a:xfrm>
            <a:off x="5980176" y="3401568"/>
            <a:ext cx="153619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Adaptador IA</a:t>
            </a:r>
            <a:endParaRPr lang="en-US" sz="1250" dirty="0"/>
          </a:p>
        </p:txBody>
      </p:sp>
      <p:sp>
        <p:nvSpPr>
          <p:cNvPr id="18" name="Text 16"/>
          <p:cNvSpPr/>
          <p:nvPr/>
        </p:nvSpPr>
        <p:spPr>
          <a:xfrm>
            <a:off x="5980176" y="3739896"/>
            <a:ext cx="1536192" cy="2743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controla solicitud</a:t>
            </a:r>
            <a:endParaRPr lang="en-US" sz="880" dirty="0"/>
          </a:p>
        </p:txBody>
      </p:sp>
      <p:sp>
        <p:nvSpPr>
          <p:cNvPr id="19" name="Shape 17"/>
          <p:cNvSpPr/>
          <p:nvPr/>
        </p:nvSpPr>
        <p:spPr>
          <a:xfrm>
            <a:off x="8412480" y="3246120"/>
            <a:ext cx="1920240" cy="841248"/>
          </a:xfrm>
          <a:prstGeom prst="roundRect">
            <a:avLst>
              <a:gd name="adj" fmla="val 8696"/>
            </a:avLst>
          </a:prstGeom>
          <a:solidFill>
            <a:srgbClr val="15111D"/>
          </a:solidFill>
          <a:ln w="10160">
            <a:solidFill>
              <a:srgbClr val="2B2237"/>
            </a:solidFill>
            <a:prstDash val="solid"/>
          </a:ln>
        </p:spPr>
      </p:sp>
      <p:sp>
        <p:nvSpPr>
          <p:cNvPr id="20" name="Text 18"/>
          <p:cNvSpPr/>
          <p:nvPr/>
        </p:nvSpPr>
        <p:spPr>
          <a:xfrm>
            <a:off x="8558784" y="3401568"/>
            <a:ext cx="162763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Salida</a:t>
            </a:r>
            <a:endParaRPr lang="en-US" sz="1250" dirty="0"/>
          </a:p>
        </p:txBody>
      </p:sp>
      <p:sp>
        <p:nvSpPr>
          <p:cNvPr id="21" name="Text 19"/>
          <p:cNvSpPr/>
          <p:nvPr/>
        </p:nvSpPr>
        <p:spPr>
          <a:xfrm>
            <a:off x="8558784" y="3739896"/>
            <a:ext cx="1627632" cy="274320"/>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resumen + vacíos</a:t>
            </a:r>
            <a:endParaRPr lang="en-US" sz="880" dirty="0"/>
          </a:p>
        </p:txBody>
      </p:sp>
      <p:sp>
        <p:nvSpPr>
          <p:cNvPr id="22" name="Shape 20"/>
          <p:cNvSpPr/>
          <p:nvPr/>
        </p:nvSpPr>
        <p:spPr>
          <a:xfrm>
            <a:off x="896112" y="1591056"/>
            <a:ext cx="2286000" cy="1024128"/>
          </a:xfrm>
          <a:prstGeom prst="roundRect">
            <a:avLst>
              <a:gd name="adj" fmla="val 6250"/>
            </a:avLst>
          </a:prstGeom>
          <a:solidFill>
            <a:srgbClr val="15111D"/>
          </a:solidFill>
          <a:ln w="10160">
            <a:solidFill>
              <a:srgbClr val="2B2237"/>
            </a:solidFill>
            <a:prstDash val="solid"/>
          </a:ln>
        </p:spPr>
      </p:sp>
      <p:sp>
        <p:nvSpPr>
          <p:cNvPr id="23" name="Shape 21"/>
          <p:cNvSpPr/>
          <p:nvPr/>
        </p:nvSpPr>
        <p:spPr>
          <a:xfrm>
            <a:off x="1097280" y="1810512"/>
            <a:ext cx="786384" cy="0"/>
          </a:xfrm>
          <a:prstGeom prst="line">
            <a:avLst/>
          </a:prstGeom>
          <a:noFill/>
          <a:ln w="27940">
            <a:solidFill>
              <a:srgbClr val="9B2CFF"/>
            </a:solidFill>
            <a:prstDash val="solid"/>
          </a:ln>
        </p:spPr>
      </p:sp>
      <p:sp>
        <p:nvSpPr>
          <p:cNvPr id="24" name="Text 22"/>
          <p:cNvSpPr/>
          <p:nvPr/>
        </p:nvSpPr>
        <p:spPr>
          <a:xfrm>
            <a:off x="1097280" y="2084832"/>
            <a:ext cx="1874520" cy="164592"/>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REGLA 1</a:t>
            </a:r>
            <a:endParaRPr lang="en-US" sz="850" dirty="0"/>
          </a:p>
        </p:txBody>
      </p:sp>
      <p:sp>
        <p:nvSpPr>
          <p:cNvPr id="25" name="Text 23"/>
          <p:cNvSpPr/>
          <p:nvPr/>
        </p:nvSpPr>
        <p:spPr>
          <a:xfrm>
            <a:off x="1097280" y="2359152"/>
            <a:ext cx="1874520" cy="201168"/>
          </a:xfrm>
          <a:prstGeom prst="rect">
            <a:avLst/>
          </a:prstGeom>
          <a:noFill/>
          <a:ln/>
        </p:spPr>
        <p:txBody>
          <a:bodyPr wrap="square" lIns="0" tIns="0" rIns="0" bIns="0" rtlCol="0" anchor="ctr">
            <a:normAutofit/>
          </a:bodyPr>
          <a:lstStyle/>
          <a:p>
            <a:pPr indent="0" marL="0">
              <a:buNone/>
            </a:pPr>
            <a:r>
              <a:rPr lang="en-US" sz="1250" b="1" dirty="0">
                <a:solidFill>
                  <a:srgbClr val="D2CADC"/>
                </a:solidFill>
                <a:latin typeface="Manrope" pitchFamily="34" charset="0"/>
                <a:ea typeface="Manrope" pitchFamily="34" charset="-122"/>
                <a:cs typeface="Manrope" pitchFamily="34" charset="-120"/>
              </a:rPr>
              <a:t>Sin diagnóstico</a:t>
            </a:r>
            <a:endParaRPr lang="en-US" sz="1250" dirty="0"/>
          </a:p>
        </p:txBody>
      </p:sp>
      <p:sp>
        <p:nvSpPr>
          <p:cNvPr id="26" name="Shape 24"/>
          <p:cNvSpPr/>
          <p:nvPr/>
        </p:nvSpPr>
        <p:spPr>
          <a:xfrm>
            <a:off x="3547872" y="1591056"/>
            <a:ext cx="2286000" cy="1024128"/>
          </a:xfrm>
          <a:prstGeom prst="roundRect">
            <a:avLst>
              <a:gd name="adj" fmla="val 6250"/>
            </a:avLst>
          </a:prstGeom>
          <a:solidFill>
            <a:srgbClr val="15111D"/>
          </a:solidFill>
          <a:ln w="10160">
            <a:solidFill>
              <a:srgbClr val="2B2237"/>
            </a:solidFill>
            <a:prstDash val="solid"/>
          </a:ln>
        </p:spPr>
      </p:sp>
      <p:sp>
        <p:nvSpPr>
          <p:cNvPr id="27" name="Shape 25"/>
          <p:cNvSpPr/>
          <p:nvPr/>
        </p:nvSpPr>
        <p:spPr>
          <a:xfrm>
            <a:off x="3749040" y="1810512"/>
            <a:ext cx="786384" cy="0"/>
          </a:xfrm>
          <a:prstGeom prst="line">
            <a:avLst/>
          </a:prstGeom>
          <a:noFill/>
          <a:ln w="27940">
            <a:solidFill>
              <a:srgbClr val="6D28D9"/>
            </a:solidFill>
            <a:prstDash val="solid"/>
          </a:ln>
        </p:spPr>
      </p:sp>
      <p:sp>
        <p:nvSpPr>
          <p:cNvPr id="28" name="Text 26"/>
          <p:cNvSpPr/>
          <p:nvPr/>
        </p:nvSpPr>
        <p:spPr>
          <a:xfrm>
            <a:off x="3749040" y="2084832"/>
            <a:ext cx="1874520" cy="164592"/>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REGLA 2</a:t>
            </a:r>
            <a:endParaRPr lang="en-US" sz="850" dirty="0"/>
          </a:p>
        </p:txBody>
      </p:sp>
      <p:sp>
        <p:nvSpPr>
          <p:cNvPr id="29" name="Text 27"/>
          <p:cNvSpPr/>
          <p:nvPr/>
        </p:nvSpPr>
        <p:spPr>
          <a:xfrm>
            <a:off x="3749040" y="2359152"/>
            <a:ext cx="1874520" cy="201168"/>
          </a:xfrm>
          <a:prstGeom prst="rect">
            <a:avLst/>
          </a:prstGeom>
          <a:noFill/>
          <a:ln/>
        </p:spPr>
        <p:txBody>
          <a:bodyPr wrap="square" lIns="0" tIns="0" rIns="0" bIns="0" rtlCol="0" anchor="ctr">
            <a:normAutofit/>
          </a:bodyPr>
          <a:lstStyle/>
          <a:p>
            <a:pPr indent="0" marL="0">
              <a:buNone/>
            </a:pPr>
            <a:r>
              <a:rPr lang="en-US" sz="1250" b="1" dirty="0">
                <a:solidFill>
                  <a:srgbClr val="D2CADC"/>
                </a:solidFill>
                <a:latin typeface="Manrope" pitchFamily="34" charset="0"/>
                <a:ea typeface="Manrope" pitchFamily="34" charset="-122"/>
                <a:cs typeface="Manrope" pitchFamily="34" charset="-120"/>
              </a:rPr>
              <a:t>Mínimo necesario</a:t>
            </a:r>
            <a:endParaRPr lang="en-US" sz="1250" dirty="0"/>
          </a:p>
        </p:txBody>
      </p:sp>
      <p:sp>
        <p:nvSpPr>
          <p:cNvPr id="30" name="Shape 28"/>
          <p:cNvSpPr/>
          <p:nvPr/>
        </p:nvSpPr>
        <p:spPr>
          <a:xfrm>
            <a:off x="6199632" y="1591056"/>
            <a:ext cx="2286000" cy="1024128"/>
          </a:xfrm>
          <a:prstGeom prst="roundRect">
            <a:avLst>
              <a:gd name="adj" fmla="val 6250"/>
            </a:avLst>
          </a:prstGeom>
          <a:solidFill>
            <a:srgbClr val="15111D"/>
          </a:solidFill>
          <a:ln w="10160">
            <a:solidFill>
              <a:srgbClr val="2B2237"/>
            </a:solidFill>
            <a:prstDash val="solid"/>
          </a:ln>
        </p:spPr>
      </p:sp>
      <p:sp>
        <p:nvSpPr>
          <p:cNvPr id="31" name="Shape 29"/>
          <p:cNvSpPr/>
          <p:nvPr/>
        </p:nvSpPr>
        <p:spPr>
          <a:xfrm>
            <a:off x="6400800" y="1810512"/>
            <a:ext cx="786384" cy="0"/>
          </a:xfrm>
          <a:prstGeom prst="line">
            <a:avLst/>
          </a:prstGeom>
          <a:noFill/>
          <a:ln w="27940">
            <a:solidFill>
              <a:srgbClr val="9B2CFF"/>
            </a:solidFill>
            <a:prstDash val="solid"/>
          </a:ln>
        </p:spPr>
      </p:sp>
      <p:sp>
        <p:nvSpPr>
          <p:cNvPr id="32" name="Text 30"/>
          <p:cNvSpPr/>
          <p:nvPr/>
        </p:nvSpPr>
        <p:spPr>
          <a:xfrm>
            <a:off x="6400800" y="2084832"/>
            <a:ext cx="1874520" cy="164592"/>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REGLA 3</a:t>
            </a:r>
            <a:endParaRPr lang="en-US" sz="850" dirty="0"/>
          </a:p>
        </p:txBody>
      </p:sp>
      <p:sp>
        <p:nvSpPr>
          <p:cNvPr id="33" name="Text 31"/>
          <p:cNvSpPr/>
          <p:nvPr/>
        </p:nvSpPr>
        <p:spPr>
          <a:xfrm>
            <a:off x="6400800" y="2359152"/>
            <a:ext cx="1874520" cy="201168"/>
          </a:xfrm>
          <a:prstGeom prst="rect">
            <a:avLst/>
          </a:prstGeom>
          <a:noFill/>
          <a:ln/>
        </p:spPr>
        <p:txBody>
          <a:bodyPr wrap="square" lIns="0" tIns="0" rIns="0" bIns="0" rtlCol="0" anchor="ctr">
            <a:normAutofit/>
          </a:bodyPr>
          <a:lstStyle/>
          <a:p>
            <a:pPr indent="0" marL="0">
              <a:buNone/>
            </a:pPr>
            <a:r>
              <a:rPr lang="en-US" sz="1250" b="1" dirty="0">
                <a:solidFill>
                  <a:srgbClr val="D2CADC"/>
                </a:solidFill>
                <a:latin typeface="Manrope" pitchFamily="34" charset="0"/>
                <a:ea typeface="Manrope" pitchFamily="34" charset="-122"/>
                <a:cs typeface="Manrope" pitchFamily="34" charset="-120"/>
              </a:rPr>
              <a:t>Trazabilidad</a:t>
            </a:r>
            <a:endParaRPr lang="en-US" sz="1250" dirty="0"/>
          </a:p>
        </p:txBody>
      </p:sp>
      <p:sp>
        <p:nvSpPr>
          <p:cNvPr id="34" name="Shape 32"/>
          <p:cNvSpPr/>
          <p:nvPr/>
        </p:nvSpPr>
        <p:spPr>
          <a:xfrm>
            <a:off x="8851392" y="1591056"/>
            <a:ext cx="2286000" cy="1024128"/>
          </a:xfrm>
          <a:prstGeom prst="roundRect">
            <a:avLst>
              <a:gd name="adj" fmla="val 6250"/>
            </a:avLst>
          </a:prstGeom>
          <a:solidFill>
            <a:srgbClr val="15111D"/>
          </a:solidFill>
          <a:ln w="10160">
            <a:solidFill>
              <a:srgbClr val="2B2237"/>
            </a:solidFill>
            <a:prstDash val="solid"/>
          </a:ln>
        </p:spPr>
      </p:sp>
      <p:sp>
        <p:nvSpPr>
          <p:cNvPr id="35" name="Shape 33"/>
          <p:cNvSpPr/>
          <p:nvPr/>
        </p:nvSpPr>
        <p:spPr>
          <a:xfrm>
            <a:off x="9052560" y="1810512"/>
            <a:ext cx="786384" cy="0"/>
          </a:xfrm>
          <a:prstGeom prst="line">
            <a:avLst/>
          </a:prstGeom>
          <a:noFill/>
          <a:ln w="27940">
            <a:solidFill>
              <a:srgbClr val="6D28D9"/>
            </a:solidFill>
            <a:prstDash val="solid"/>
          </a:ln>
        </p:spPr>
      </p:sp>
      <p:sp>
        <p:nvSpPr>
          <p:cNvPr id="36" name="Text 34"/>
          <p:cNvSpPr/>
          <p:nvPr/>
        </p:nvSpPr>
        <p:spPr>
          <a:xfrm>
            <a:off x="9052560" y="2084832"/>
            <a:ext cx="1874520" cy="164592"/>
          </a:xfrm>
          <a:prstGeom prst="rect">
            <a:avLst/>
          </a:prstGeom>
          <a:noFill/>
          <a:ln/>
        </p:spPr>
        <p:txBody>
          <a:bodyPr wrap="square" lIns="0" tIns="0" rIns="0" bIns="0" rtlCol="0" anchor="ctr"/>
          <a:lstStyle/>
          <a:p>
            <a:pPr indent="0" marL="0">
              <a:buNone/>
            </a:pPr>
            <a:r>
              <a:rPr lang="en-US" sz="850" b="1" dirty="0">
                <a:solidFill>
                  <a:srgbClr val="C084FC"/>
                </a:solidFill>
                <a:latin typeface="Manrope" pitchFamily="34" charset="0"/>
                <a:ea typeface="Manrope" pitchFamily="34" charset="-122"/>
                <a:cs typeface="Manrope" pitchFamily="34" charset="-120"/>
              </a:rPr>
              <a:t>REGLA 4</a:t>
            </a:r>
            <a:endParaRPr lang="en-US" sz="850" dirty="0"/>
          </a:p>
        </p:txBody>
      </p:sp>
      <p:sp>
        <p:nvSpPr>
          <p:cNvPr id="37" name="Text 35"/>
          <p:cNvSpPr/>
          <p:nvPr/>
        </p:nvSpPr>
        <p:spPr>
          <a:xfrm>
            <a:off x="9052560" y="2359152"/>
            <a:ext cx="1874520" cy="201168"/>
          </a:xfrm>
          <a:prstGeom prst="rect">
            <a:avLst/>
          </a:prstGeom>
          <a:noFill/>
          <a:ln/>
        </p:spPr>
        <p:txBody>
          <a:bodyPr wrap="square" lIns="0" tIns="0" rIns="0" bIns="0" rtlCol="0" anchor="ctr">
            <a:normAutofit/>
          </a:bodyPr>
          <a:lstStyle/>
          <a:p>
            <a:pPr indent="0" marL="0">
              <a:buNone/>
            </a:pPr>
            <a:r>
              <a:rPr lang="en-US" sz="1250" b="1" dirty="0">
                <a:solidFill>
                  <a:srgbClr val="D2CADC"/>
                </a:solidFill>
                <a:latin typeface="Manrope" pitchFamily="34" charset="0"/>
                <a:ea typeface="Manrope" pitchFamily="34" charset="-122"/>
                <a:cs typeface="Manrope" pitchFamily="34" charset="-120"/>
              </a:rPr>
              <a:t>Advertencia visible</a:t>
            </a:r>
            <a:endParaRPr lang="en-US" sz="1250" dirty="0"/>
          </a:p>
        </p:txBody>
      </p:sp>
      <p:sp>
        <p:nvSpPr>
          <p:cNvPr id="38" name="Shape 36"/>
          <p:cNvSpPr/>
          <p:nvPr/>
        </p:nvSpPr>
        <p:spPr>
          <a:xfrm>
            <a:off x="1828800" y="5230368"/>
            <a:ext cx="8503920" cy="502920"/>
          </a:xfrm>
          <a:prstGeom prst="roundRect">
            <a:avLst>
              <a:gd name="adj" fmla="val 10909"/>
            </a:avLst>
          </a:prstGeom>
          <a:solidFill>
            <a:srgbClr val="1D1728"/>
          </a:solidFill>
          <a:ln w="12700">
            <a:solidFill>
              <a:srgbClr val="9B2CFF">
                <a:alpha val="75000"/>
              </a:srgbClr>
            </a:solidFill>
            <a:prstDash val="solid"/>
          </a:ln>
        </p:spPr>
      </p:sp>
      <p:sp>
        <p:nvSpPr>
          <p:cNvPr id="39" name="Text 37"/>
          <p:cNvSpPr/>
          <p:nvPr/>
        </p:nvSpPr>
        <p:spPr>
          <a:xfrm>
            <a:off x="2121408" y="5394960"/>
            <a:ext cx="7909560" cy="228600"/>
          </a:xfrm>
          <a:prstGeom prst="rect">
            <a:avLst/>
          </a:prstGeom>
          <a:noFill/>
          <a:ln/>
        </p:spPr>
        <p:txBody>
          <a:bodyPr wrap="square" lIns="0" tIns="0" rIns="0" bIns="0" rtlCol="0" anchor="ctr">
            <a:normAutofit/>
          </a:bodyPr>
          <a:lstStyle/>
          <a:p>
            <a:pPr algn="ctr" indent="0" marL="0">
              <a:buNone/>
            </a:pPr>
            <a:r>
              <a:rPr lang="en-US" sz="1450" b="1" dirty="0">
                <a:solidFill>
                  <a:srgbClr val="D2CADC"/>
                </a:solidFill>
                <a:latin typeface="Manrope" pitchFamily="34" charset="0"/>
                <a:ea typeface="Manrope" pitchFamily="34" charset="-122"/>
                <a:cs typeface="Manrope" pitchFamily="34" charset="-120"/>
              </a:rPr>
              <a:t>El valor de la IA está en resumir y señalar inconsistencias; la decisión clínica sigue siendo humana.</a:t>
            </a:r>
            <a:endParaRPr lang="en-US" sz="1450" dirty="0"/>
          </a:p>
        </p:txBody>
      </p:sp>
      <p:pic>
        <p:nvPicPr>
          <p:cNvPr id="40"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41" name="Text 38"/>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42" name="Text 39"/>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07</a:t>
            </a:r>
            <a:endParaRPr lang="en-US" sz="800" dirty="0"/>
          </a:p>
        </p:txBody>
      </p:sp>
      <p:sp>
        <p:nvSpPr>
          <p:cNvPr id="43" name="Shape 40"/>
          <p:cNvSpPr/>
          <p:nvPr/>
        </p:nvSpPr>
        <p:spPr>
          <a:xfrm>
            <a:off x="475488" y="6181344"/>
            <a:ext cx="11247120" cy="0"/>
          </a:xfrm>
          <a:prstGeom prst="line">
            <a:avLst/>
          </a:prstGeom>
          <a:noFill/>
          <a:ln w="8890">
            <a:solidFill>
              <a:srgbClr val="2B2237">
                <a:alpha val="75000"/>
              </a:srgbClr>
            </a:solidFill>
            <a:prstDash val="solid"/>
          </a:ln>
        </p:spPr>
      </p:sp>
      <p:sp>
        <p:nvSpPr>
          <p:cNvPr id="44" name="Text 41"/>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módulo IA</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Arquitectura técnica</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Cliente multiplataforma, backend desacoplado y almacenamiento separado.</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2286000" y="2816352"/>
            <a:ext cx="914400" cy="0"/>
          </a:xfrm>
          <a:prstGeom prst="line">
            <a:avLst/>
          </a:prstGeom>
          <a:noFill/>
          <a:ln w="20320">
            <a:solidFill>
              <a:srgbClr val="9B2CFF"/>
            </a:solidFill>
            <a:prstDash val="solid"/>
            <a:tailEnd type="triangle"/>
          </a:ln>
        </p:spPr>
      </p:sp>
      <p:sp>
        <p:nvSpPr>
          <p:cNvPr id="8" name="Shape 6"/>
          <p:cNvSpPr/>
          <p:nvPr/>
        </p:nvSpPr>
        <p:spPr>
          <a:xfrm>
            <a:off x="5257800" y="2816352"/>
            <a:ext cx="731520" cy="-1005840"/>
          </a:xfrm>
          <a:prstGeom prst="line">
            <a:avLst/>
          </a:prstGeom>
          <a:noFill/>
          <a:ln w="17780">
            <a:solidFill>
              <a:srgbClr val="9B2CFF"/>
            </a:solidFill>
            <a:prstDash val="solid"/>
            <a:tailEnd type="triangle"/>
          </a:ln>
        </p:spPr>
      </p:sp>
      <p:sp>
        <p:nvSpPr>
          <p:cNvPr id="9" name="Shape 7"/>
          <p:cNvSpPr/>
          <p:nvPr/>
        </p:nvSpPr>
        <p:spPr>
          <a:xfrm>
            <a:off x="5257800" y="2816352"/>
            <a:ext cx="731520" cy="0"/>
          </a:xfrm>
          <a:prstGeom prst="line">
            <a:avLst/>
          </a:prstGeom>
          <a:noFill/>
          <a:ln w="17780">
            <a:solidFill>
              <a:srgbClr val="9B2CFF"/>
            </a:solidFill>
            <a:prstDash val="solid"/>
            <a:tailEnd type="triangle"/>
          </a:ln>
        </p:spPr>
      </p:sp>
      <p:sp>
        <p:nvSpPr>
          <p:cNvPr id="10" name="Shape 8"/>
          <p:cNvSpPr/>
          <p:nvPr/>
        </p:nvSpPr>
        <p:spPr>
          <a:xfrm>
            <a:off x="5257800" y="2816352"/>
            <a:ext cx="731520" cy="1005840"/>
          </a:xfrm>
          <a:prstGeom prst="line">
            <a:avLst/>
          </a:prstGeom>
          <a:noFill/>
          <a:ln w="17780">
            <a:solidFill>
              <a:srgbClr val="9B2CFF"/>
            </a:solidFill>
            <a:prstDash val="solid"/>
            <a:tailEnd type="triangle"/>
          </a:ln>
        </p:spPr>
      </p:sp>
      <p:sp>
        <p:nvSpPr>
          <p:cNvPr id="11" name="Shape 9"/>
          <p:cNvSpPr/>
          <p:nvPr/>
        </p:nvSpPr>
        <p:spPr>
          <a:xfrm>
            <a:off x="8046720" y="1810512"/>
            <a:ext cx="594360" cy="1005840"/>
          </a:xfrm>
          <a:prstGeom prst="line">
            <a:avLst/>
          </a:prstGeom>
          <a:noFill/>
          <a:ln w="16510">
            <a:solidFill>
              <a:srgbClr val="6D28D9"/>
            </a:solidFill>
            <a:prstDash val="solid"/>
            <a:tailEnd type="triangle"/>
          </a:ln>
        </p:spPr>
      </p:sp>
      <p:sp>
        <p:nvSpPr>
          <p:cNvPr id="12" name="Shape 10"/>
          <p:cNvSpPr/>
          <p:nvPr/>
        </p:nvSpPr>
        <p:spPr>
          <a:xfrm>
            <a:off x="676656" y="2176272"/>
            <a:ext cx="1600200" cy="1261872"/>
          </a:xfrm>
          <a:prstGeom prst="roundRect">
            <a:avLst>
              <a:gd name="adj" fmla="val 5797"/>
            </a:avLst>
          </a:prstGeom>
          <a:solidFill>
            <a:srgbClr val="15111D"/>
          </a:solidFill>
          <a:ln w="10160">
            <a:solidFill>
              <a:srgbClr val="2B2237"/>
            </a:solidFill>
            <a:prstDash val="solid"/>
          </a:ln>
        </p:spPr>
      </p:sp>
      <p:sp>
        <p:nvSpPr>
          <p:cNvPr id="13" name="Text 11"/>
          <p:cNvSpPr/>
          <p:nvPr/>
        </p:nvSpPr>
        <p:spPr>
          <a:xfrm>
            <a:off x="822960" y="2331720"/>
            <a:ext cx="130759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Android + Web</a:t>
            </a:r>
            <a:endParaRPr lang="en-US" sz="1250" dirty="0"/>
          </a:p>
        </p:txBody>
      </p:sp>
      <p:sp>
        <p:nvSpPr>
          <p:cNvPr id="14" name="Text 12"/>
          <p:cNvSpPr/>
          <p:nvPr/>
        </p:nvSpPr>
        <p:spPr>
          <a:xfrm>
            <a:off x="822960" y="2670048"/>
            <a:ext cx="1307592" cy="694944"/>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React Native</a:t>
            </a:r>
            <a:endParaRPr lang="en-US" sz="880" dirty="0"/>
          </a:p>
          <a:p>
            <a:pPr algn="ctr" indent="0" marL="0">
              <a:buNone/>
            </a:pPr>
            <a:r>
              <a:rPr lang="en-US" sz="880" dirty="0">
                <a:solidFill>
                  <a:srgbClr val="9B91A8"/>
                </a:solidFill>
                <a:latin typeface="Manrope" pitchFamily="34" charset="0"/>
                <a:ea typeface="Manrope" pitchFamily="34" charset="-122"/>
                <a:cs typeface="Manrope" pitchFamily="34" charset="-120"/>
              </a:rPr>
              <a:t>React Native Web</a:t>
            </a:r>
            <a:endParaRPr lang="en-US" sz="880" dirty="0"/>
          </a:p>
        </p:txBody>
      </p:sp>
      <p:sp>
        <p:nvSpPr>
          <p:cNvPr id="15" name="Shape 13"/>
          <p:cNvSpPr/>
          <p:nvPr/>
        </p:nvSpPr>
        <p:spPr>
          <a:xfrm>
            <a:off x="3273552" y="2176272"/>
            <a:ext cx="1975104" cy="1261872"/>
          </a:xfrm>
          <a:prstGeom prst="roundRect">
            <a:avLst>
              <a:gd name="adj" fmla="val 5797"/>
            </a:avLst>
          </a:prstGeom>
          <a:solidFill>
            <a:srgbClr val="15111D"/>
          </a:solidFill>
          <a:ln w="10160">
            <a:solidFill>
              <a:srgbClr val="2B2237"/>
            </a:solidFill>
            <a:prstDash val="solid"/>
          </a:ln>
        </p:spPr>
      </p:sp>
      <p:sp>
        <p:nvSpPr>
          <p:cNvPr id="16" name="Text 14"/>
          <p:cNvSpPr/>
          <p:nvPr/>
        </p:nvSpPr>
        <p:spPr>
          <a:xfrm>
            <a:off x="3419856" y="2331720"/>
            <a:ext cx="1682496"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API Backend</a:t>
            </a:r>
            <a:endParaRPr lang="en-US" sz="1250" dirty="0"/>
          </a:p>
        </p:txBody>
      </p:sp>
      <p:sp>
        <p:nvSpPr>
          <p:cNvPr id="17" name="Text 15"/>
          <p:cNvSpPr/>
          <p:nvPr/>
        </p:nvSpPr>
        <p:spPr>
          <a:xfrm>
            <a:off x="3419856" y="2670048"/>
            <a:ext cx="1682496" cy="694944"/>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Node.js</a:t>
            </a:r>
            <a:endParaRPr lang="en-US" sz="880" dirty="0"/>
          </a:p>
          <a:p>
            <a:pPr algn="ctr" indent="0" marL="0">
              <a:buNone/>
            </a:pPr>
            <a:r>
              <a:rPr lang="en-US" sz="880" dirty="0">
                <a:solidFill>
                  <a:srgbClr val="9B91A8"/>
                </a:solidFill>
                <a:latin typeface="Manrope" pitchFamily="34" charset="0"/>
                <a:ea typeface="Manrope" pitchFamily="34" charset="-122"/>
                <a:cs typeface="Manrope" pitchFamily="34" charset="-120"/>
              </a:rPr>
              <a:t>Express.js</a:t>
            </a:r>
            <a:endParaRPr lang="en-US" sz="880" dirty="0"/>
          </a:p>
        </p:txBody>
      </p:sp>
      <p:sp>
        <p:nvSpPr>
          <p:cNvPr id="18" name="Shape 16"/>
          <p:cNvSpPr/>
          <p:nvPr/>
        </p:nvSpPr>
        <p:spPr>
          <a:xfrm>
            <a:off x="6071616" y="1243584"/>
            <a:ext cx="1920240" cy="950976"/>
          </a:xfrm>
          <a:prstGeom prst="roundRect">
            <a:avLst>
              <a:gd name="adj" fmla="val 7692"/>
            </a:avLst>
          </a:prstGeom>
          <a:solidFill>
            <a:srgbClr val="15111D"/>
          </a:solidFill>
          <a:ln w="10160">
            <a:solidFill>
              <a:srgbClr val="2B2237"/>
            </a:solidFill>
            <a:prstDash val="solid"/>
          </a:ln>
        </p:spPr>
      </p:sp>
      <p:sp>
        <p:nvSpPr>
          <p:cNvPr id="19" name="Text 17"/>
          <p:cNvSpPr/>
          <p:nvPr/>
        </p:nvSpPr>
        <p:spPr>
          <a:xfrm>
            <a:off x="6217920" y="1399032"/>
            <a:ext cx="162763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MySQL</a:t>
            </a:r>
            <a:endParaRPr lang="en-US" sz="1250" dirty="0"/>
          </a:p>
        </p:txBody>
      </p:sp>
      <p:sp>
        <p:nvSpPr>
          <p:cNvPr id="20" name="Text 18"/>
          <p:cNvSpPr/>
          <p:nvPr/>
        </p:nvSpPr>
        <p:spPr>
          <a:xfrm>
            <a:off x="6217920" y="1737360"/>
            <a:ext cx="1627632" cy="384048"/>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datos estructurados</a:t>
            </a:r>
            <a:endParaRPr lang="en-US" sz="880" dirty="0"/>
          </a:p>
        </p:txBody>
      </p:sp>
      <p:sp>
        <p:nvSpPr>
          <p:cNvPr id="21" name="Shape 19"/>
          <p:cNvSpPr/>
          <p:nvPr/>
        </p:nvSpPr>
        <p:spPr>
          <a:xfrm>
            <a:off x="6071616" y="2340864"/>
            <a:ext cx="1920240" cy="950976"/>
          </a:xfrm>
          <a:prstGeom prst="roundRect">
            <a:avLst>
              <a:gd name="adj" fmla="val 7692"/>
            </a:avLst>
          </a:prstGeom>
          <a:solidFill>
            <a:srgbClr val="15111D"/>
          </a:solidFill>
          <a:ln w="10160">
            <a:solidFill>
              <a:srgbClr val="2B2237"/>
            </a:solidFill>
            <a:prstDash val="solid"/>
          </a:ln>
        </p:spPr>
      </p:sp>
      <p:sp>
        <p:nvSpPr>
          <p:cNvPr id="22" name="Text 20"/>
          <p:cNvSpPr/>
          <p:nvPr/>
        </p:nvSpPr>
        <p:spPr>
          <a:xfrm>
            <a:off x="6217920" y="2496312"/>
            <a:ext cx="162763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Storage privado</a:t>
            </a:r>
            <a:endParaRPr lang="en-US" sz="1250" dirty="0"/>
          </a:p>
        </p:txBody>
      </p:sp>
      <p:sp>
        <p:nvSpPr>
          <p:cNvPr id="23" name="Text 21"/>
          <p:cNvSpPr/>
          <p:nvPr/>
        </p:nvSpPr>
        <p:spPr>
          <a:xfrm>
            <a:off x="6217920" y="2834640"/>
            <a:ext cx="1627632" cy="384048"/>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PDF e imágenes</a:t>
            </a:r>
            <a:endParaRPr lang="en-US" sz="880" dirty="0"/>
          </a:p>
        </p:txBody>
      </p:sp>
      <p:sp>
        <p:nvSpPr>
          <p:cNvPr id="24" name="Shape 22"/>
          <p:cNvSpPr/>
          <p:nvPr/>
        </p:nvSpPr>
        <p:spPr>
          <a:xfrm>
            <a:off x="6071616" y="3438144"/>
            <a:ext cx="1920240" cy="950976"/>
          </a:xfrm>
          <a:prstGeom prst="roundRect">
            <a:avLst>
              <a:gd name="adj" fmla="val 7692"/>
            </a:avLst>
          </a:prstGeom>
          <a:solidFill>
            <a:srgbClr val="15111D"/>
          </a:solidFill>
          <a:ln w="10160">
            <a:solidFill>
              <a:srgbClr val="2B2237"/>
            </a:solidFill>
            <a:prstDash val="solid"/>
          </a:ln>
        </p:spPr>
      </p:sp>
      <p:sp>
        <p:nvSpPr>
          <p:cNvPr id="25" name="Text 23"/>
          <p:cNvSpPr/>
          <p:nvPr/>
        </p:nvSpPr>
        <p:spPr>
          <a:xfrm>
            <a:off x="6217920" y="3593592"/>
            <a:ext cx="162763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Auditoría</a:t>
            </a:r>
            <a:endParaRPr lang="en-US" sz="1250" dirty="0"/>
          </a:p>
        </p:txBody>
      </p:sp>
      <p:sp>
        <p:nvSpPr>
          <p:cNvPr id="26" name="Text 24"/>
          <p:cNvSpPr/>
          <p:nvPr/>
        </p:nvSpPr>
        <p:spPr>
          <a:xfrm>
            <a:off x="6217920" y="3931920"/>
            <a:ext cx="1627632" cy="384048"/>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acciones relevantes</a:t>
            </a:r>
            <a:endParaRPr lang="en-US" sz="880" dirty="0"/>
          </a:p>
        </p:txBody>
      </p:sp>
      <p:sp>
        <p:nvSpPr>
          <p:cNvPr id="27" name="Shape 25"/>
          <p:cNvSpPr/>
          <p:nvPr/>
        </p:nvSpPr>
        <p:spPr>
          <a:xfrm>
            <a:off x="8686800" y="2331720"/>
            <a:ext cx="2057400" cy="987552"/>
          </a:xfrm>
          <a:prstGeom prst="roundRect">
            <a:avLst>
              <a:gd name="adj" fmla="val 7407"/>
            </a:avLst>
          </a:prstGeom>
          <a:solidFill>
            <a:srgbClr val="15111D"/>
          </a:solidFill>
          <a:ln w="10160">
            <a:solidFill>
              <a:srgbClr val="2B2237"/>
            </a:solidFill>
            <a:prstDash val="solid"/>
          </a:ln>
        </p:spPr>
      </p:sp>
      <p:sp>
        <p:nvSpPr>
          <p:cNvPr id="28" name="Text 26"/>
          <p:cNvSpPr/>
          <p:nvPr/>
        </p:nvSpPr>
        <p:spPr>
          <a:xfrm>
            <a:off x="8833104" y="2487168"/>
            <a:ext cx="1764792" cy="256032"/>
          </a:xfrm>
          <a:prstGeom prst="rect">
            <a:avLst/>
          </a:prstGeom>
          <a:noFill/>
          <a:ln/>
        </p:spPr>
        <p:txBody>
          <a:bodyPr wrap="square" lIns="0" tIns="0" rIns="0" bIns="0" rtlCol="0" anchor="ctr">
            <a:normAutofit/>
          </a:bodyPr>
          <a:lstStyle/>
          <a:p>
            <a:pPr algn="ctr" indent="0" marL="0">
              <a:buNone/>
            </a:pPr>
            <a:r>
              <a:rPr lang="en-US" sz="1250" b="1" dirty="0">
                <a:solidFill>
                  <a:srgbClr val="D2CADC"/>
                </a:solidFill>
                <a:latin typeface="Manrope" pitchFamily="34" charset="0"/>
                <a:ea typeface="Manrope" pitchFamily="34" charset="-122"/>
                <a:cs typeface="Manrope" pitchFamily="34" charset="-120"/>
              </a:rPr>
              <a:t>DeepSeek API</a:t>
            </a:r>
            <a:endParaRPr lang="en-US" sz="1250" dirty="0"/>
          </a:p>
        </p:txBody>
      </p:sp>
      <p:sp>
        <p:nvSpPr>
          <p:cNvPr id="29" name="Text 27"/>
          <p:cNvSpPr/>
          <p:nvPr/>
        </p:nvSpPr>
        <p:spPr>
          <a:xfrm>
            <a:off x="8833104" y="2825496"/>
            <a:ext cx="1764792" cy="420624"/>
          </a:xfrm>
          <a:prstGeom prst="rect">
            <a:avLst/>
          </a:prstGeom>
          <a:noFill/>
          <a:ln/>
        </p:spPr>
        <p:txBody>
          <a:bodyPr wrap="square" lIns="0" tIns="0" rIns="0" bIns="0" rtlCol="0" anchor="ctr">
            <a:normAutofit/>
          </a:bodyPr>
          <a:lstStyle/>
          <a:p>
            <a:pPr algn="ctr" indent="0" marL="0">
              <a:buNone/>
            </a:pPr>
            <a:r>
              <a:rPr lang="en-US" sz="880" dirty="0">
                <a:solidFill>
                  <a:srgbClr val="9B91A8"/>
                </a:solidFill>
                <a:latin typeface="Manrope" pitchFamily="34" charset="0"/>
                <a:ea typeface="Manrope" pitchFamily="34" charset="-122"/>
                <a:cs typeface="Manrope" pitchFamily="34" charset="-120"/>
              </a:rPr>
              <a:t>vía adaptador interno</a:t>
            </a:r>
            <a:endParaRPr lang="en-US" sz="880" dirty="0"/>
          </a:p>
        </p:txBody>
      </p:sp>
      <p:sp>
        <p:nvSpPr>
          <p:cNvPr id="30" name="Shape 28"/>
          <p:cNvSpPr/>
          <p:nvPr/>
        </p:nvSpPr>
        <p:spPr>
          <a:xfrm>
            <a:off x="914400" y="4956048"/>
            <a:ext cx="10012680" cy="438912"/>
          </a:xfrm>
          <a:prstGeom prst="roundRect">
            <a:avLst>
              <a:gd name="adj" fmla="val 12500"/>
            </a:avLst>
          </a:prstGeom>
          <a:solidFill>
            <a:srgbClr val="15111D"/>
          </a:solidFill>
          <a:ln w="10160">
            <a:solidFill>
              <a:srgbClr val="2B2237"/>
            </a:solidFill>
            <a:prstDash val="solid"/>
          </a:ln>
        </p:spPr>
      </p:sp>
      <p:sp>
        <p:nvSpPr>
          <p:cNvPr id="31" name="Text 29"/>
          <p:cNvSpPr/>
          <p:nvPr/>
        </p:nvSpPr>
        <p:spPr>
          <a:xfrm>
            <a:off x="1152144" y="5084064"/>
            <a:ext cx="9509760" cy="146304"/>
          </a:xfrm>
          <a:prstGeom prst="rect">
            <a:avLst/>
          </a:prstGeom>
          <a:noFill/>
          <a:ln/>
        </p:spPr>
        <p:txBody>
          <a:bodyPr wrap="square" lIns="0" tIns="0" rIns="0" bIns="0" rtlCol="0" anchor="ctr">
            <a:normAutofit/>
          </a:bodyPr>
          <a:lstStyle/>
          <a:p>
            <a:pPr algn="ctr" indent="0" marL="0">
              <a:buNone/>
            </a:pPr>
            <a:r>
              <a:rPr lang="en-US" sz="1120" b="1" dirty="0">
                <a:solidFill>
                  <a:srgbClr val="D2CADC"/>
                </a:solidFill>
                <a:latin typeface="Manrope" pitchFamily="34" charset="0"/>
                <a:ea typeface="Manrope" pitchFamily="34" charset="-122"/>
                <a:cs typeface="Manrope" pitchFamily="34" charset="-120"/>
              </a:rPr>
              <a:t>Separación por capas: permite modificar proveedor de IA o almacenamiento sin rehacer toda la aplicación.</a:t>
            </a:r>
            <a:endParaRPr lang="en-US" sz="1120" dirty="0"/>
          </a:p>
        </p:txBody>
      </p:sp>
      <p:pic>
        <p:nvPicPr>
          <p:cNvPr id="32"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3" name="Text 30"/>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4" name="Text 31"/>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08</a:t>
            </a:r>
            <a:endParaRPr lang="en-US" sz="800" dirty="0"/>
          </a:p>
        </p:txBody>
      </p:sp>
      <p:sp>
        <p:nvSpPr>
          <p:cNvPr id="35" name="Shape 32"/>
          <p:cNvSpPr/>
          <p:nvPr/>
        </p:nvSpPr>
        <p:spPr>
          <a:xfrm>
            <a:off x="475488" y="6181344"/>
            <a:ext cx="11247120" cy="0"/>
          </a:xfrm>
          <a:prstGeom prst="line">
            <a:avLst/>
          </a:prstGeom>
          <a:noFill/>
          <a:ln w="8890">
            <a:solidFill>
              <a:srgbClr val="2B2237">
                <a:alpha val="75000"/>
              </a:srgbClr>
            </a:solidFill>
            <a:prstDash val="solid"/>
          </a:ln>
        </p:spPr>
      </p:sp>
      <p:sp>
        <p:nvSpPr>
          <p:cNvPr id="36" name="Text 33"/>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marco técnico</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Seguridad y trazabilidad</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Los datos de salud requieren controles reforzados desde el diseño.</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786384" y="1691640"/>
            <a:ext cx="3246120" cy="1207008"/>
          </a:xfrm>
          <a:prstGeom prst="roundRect">
            <a:avLst>
              <a:gd name="adj" fmla="val 6061"/>
            </a:avLst>
          </a:prstGeom>
          <a:solidFill>
            <a:srgbClr val="15111D"/>
          </a:solidFill>
          <a:ln w="12700">
            <a:solidFill>
              <a:srgbClr val="2B2237">
                <a:alpha val="96000"/>
              </a:srgbClr>
            </a:solidFill>
            <a:prstDash val="solid"/>
          </a:ln>
        </p:spPr>
      </p:sp>
      <p:sp>
        <p:nvSpPr>
          <p:cNvPr id="8" name="Shape 6"/>
          <p:cNvSpPr/>
          <p:nvPr/>
        </p:nvSpPr>
        <p:spPr>
          <a:xfrm>
            <a:off x="987552" y="1901952"/>
            <a:ext cx="786384" cy="0"/>
          </a:xfrm>
          <a:prstGeom prst="line">
            <a:avLst/>
          </a:prstGeom>
          <a:noFill/>
          <a:ln w="27940">
            <a:solidFill>
              <a:srgbClr val="9B2CFF"/>
            </a:solidFill>
            <a:prstDash val="solid"/>
          </a:ln>
        </p:spPr>
      </p:sp>
      <p:sp>
        <p:nvSpPr>
          <p:cNvPr id="9" name="Text 7"/>
          <p:cNvSpPr/>
          <p:nvPr/>
        </p:nvSpPr>
        <p:spPr>
          <a:xfrm>
            <a:off x="987552" y="207568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10" name="Text 8"/>
          <p:cNvSpPr/>
          <p:nvPr/>
        </p:nvSpPr>
        <p:spPr>
          <a:xfrm>
            <a:off x="987552" y="240487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Autenticación</a:t>
            </a:r>
            <a:endParaRPr lang="en-US" sz="1600" dirty="0"/>
          </a:p>
        </p:txBody>
      </p:sp>
      <p:sp>
        <p:nvSpPr>
          <p:cNvPr id="11" name="Text 9"/>
          <p:cNvSpPr/>
          <p:nvPr/>
        </p:nvSpPr>
        <p:spPr>
          <a:xfrm>
            <a:off x="987552" y="299008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cuentas y sesión protegida</a:t>
            </a:r>
            <a:endParaRPr lang="en-US" sz="1050" dirty="0"/>
          </a:p>
        </p:txBody>
      </p:sp>
      <p:sp>
        <p:nvSpPr>
          <p:cNvPr id="12" name="Shape 10"/>
          <p:cNvSpPr/>
          <p:nvPr/>
        </p:nvSpPr>
        <p:spPr>
          <a:xfrm>
            <a:off x="4535424" y="1691640"/>
            <a:ext cx="3246120" cy="1207008"/>
          </a:xfrm>
          <a:prstGeom prst="roundRect">
            <a:avLst>
              <a:gd name="adj" fmla="val 6061"/>
            </a:avLst>
          </a:prstGeom>
          <a:solidFill>
            <a:srgbClr val="15111D"/>
          </a:solidFill>
          <a:ln w="12700">
            <a:solidFill>
              <a:srgbClr val="2B2237">
                <a:alpha val="96000"/>
              </a:srgbClr>
            </a:solidFill>
            <a:prstDash val="solid"/>
          </a:ln>
        </p:spPr>
      </p:sp>
      <p:sp>
        <p:nvSpPr>
          <p:cNvPr id="13" name="Shape 11"/>
          <p:cNvSpPr/>
          <p:nvPr/>
        </p:nvSpPr>
        <p:spPr>
          <a:xfrm>
            <a:off x="4736592" y="1901952"/>
            <a:ext cx="786384" cy="0"/>
          </a:xfrm>
          <a:prstGeom prst="line">
            <a:avLst/>
          </a:prstGeom>
          <a:noFill/>
          <a:ln w="27940">
            <a:solidFill>
              <a:srgbClr val="6D28D9"/>
            </a:solidFill>
            <a:prstDash val="solid"/>
          </a:ln>
        </p:spPr>
      </p:sp>
      <p:sp>
        <p:nvSpPr>
          <p:cNvPr id="14" name="Text 12"/>
          <p:cNvSpPr/>
          <p:nvPr/>
        </p:nvSpPr>
        <p:spPr>
          <a:xfrm>
            <a:off x="4736592" y="207568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15" name="Text 13"/>
          <p:cNvSpPr/>
          <p:nvPr/>
        </p:nvSpPr>
        <p:spPr>
          <a:xfrm>
            <a:off x="4736592" y="240487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Autorización</a:t>
            </a:r>
            <a:endParaRPr lang="en-US" sz="1600" dirty="0"/>
          </a:p>
        </p:txBody>
      </p:sp>
      <p:sp>
        <p:nvSpPr>
          <p:cNvPr id="16" name="Text 14"/>
          <p:cNvSpPr/>
          <p:nvPr/>
        </p:nvSpPr>
        <p:spPr>
          <a:xfrm>
            <a:off x="4736592" y="299008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validación por recurso</a:t>
            </a:r>
            <a:endParaRPr lang="en-US" sz="1050" dirty="0"/>
          </a:p>
        </p:txBody>
      </p:sp>
      <p:sp>
        <p:nvSpPr>
          <p:cNvPr id="17" name="Shape 15"/>
          <p:cNvSpPr/>
          <p:nvPr/>
        </p:nvSpPr>
        <p:spPr>
          <a:xfrm>
            <a:off x="8284464" y="1691640"/>
            <a:ext cx="3246120" cy="1207008"/>
          </a:xfrm>
          <a:prstGeom prst="roundRect">
            <a:avLst>
              <a:gd name="adj" fmla="val 6061"/>
            </a:avLst>
          </a:prstGeom>
          <a:solidFill>
            <a:srgbClr val="15111D"/>
          </a:solidFill>
          <a:ln w="12700">
            <a:solidFill>
              <a:srgbClr val="2B2237">
                <a:alpha val="96000"/>
              </a:srgbClr>
            </a:solidFill>
            <a:prstDash val="solid"/>
          </a:ln>
        </p:spPr>
      </p:sp>
      <p:sp>
        <p:nvSpPr>
          <p:cNvPr id="18" name="Shape 16"/>
          <p:cNvSpPr/>
          <p:nvPr/>
        </p:nvSpPr>
        <p:spPr>
          <a:xfrm>
            <a:off x="8485632" y="1901952"/>
            <a:ext cx="786384" cy="0"/>
          </a:xfrm>
          <a:prstGeom prst="line">
            <a:avLst/>
          </a:prstGeom>
          <a:noFill/>
          <a:ln w="27940">
            <a:solidFill>
              <a:srgbClr val="9B2CFF"/>
            </a:solidFill>
            <a:prstDash val="solid"/>
          </a:ln>
        </p:spPr>
      </p:sp>
      <p:sp>
        <p:nvSpPr>
          <p:cNvPr id="19" name="Text 17"/>
          <p:cNvSpPr/>
          <p:nvPr/>
        </p:nvSpPr>
        <p:spPr>
          <a:xfrm>
            <a:off x="8485632" y="207568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20" name="Text 18"/>
          <p:cNvSpPr/>
          <p:nvPr/>
        </p:nvSpPr>
        <p:spPr>
          <a:xfrm>
            <a:off x="8485632" y="240487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Cifrado</a:t>
            </a:r>
            <a:endParaRPr lang="en-US" sz="1600" dirty="0"/>
          </a:p>
        </p:txBody>
      </p:sp>
      <p:sp>
        <p:nvSpPr>
          <p:cNvPr id="21" name="Text 19"/>
          <p:cNvSpPr/>
          <p:nvPr/>
        </p:nvSpPr>
        <p:spPr>
          <a:xfrm>
            <a:off x="8485632" y="299008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transmisión segura</a:t>
            </a:r>
            <a:endParaRPr lang="en-US" sz="1050" dirty="0"/>
          </a:p>
        </p:txBody>
      </p:sp>
      <p:sp>
        <p:nvSpPr>
          <p:cNvPr id="22" name="Shape 20"/>
          <p:cNvSpPr/>
          <p:nvPr/>
        </p:nvSpPr>
        <p:spPr>
          <a:xfrm>
            <a:off x="786384" y="3429000"/>
            <a:ext cx="3246120" cy="1207008"/>
          </a:xfrm>
          <a:prstGeom prst="roundRect">
            <a:avLst>
              <a:gd name="adj" fmla="val 6061"/>
            </a:avLst>
          </a:prstGeom>
          <a:solidFill>
            <a:srgbClr val="15111D"/>
          </a:solidFill>
          <a:ln w="12700">
            <a:solidFill>
              <a:srgbClr val="2B2237">
                <a:alpha val="96000"/>
              </a:srgbClr>
            </a:solidFill>
            <a:prstDash val="solid"/>
          </a:ln>
        </p:spPr>
      </p:sp>
      <p:sp>
        <p:nvSpPr>
          <p:cNvPr id="23" name="Shape 21"/>
          <p:cNvSpPr/>
          <p:nvPr/>
        </p:nvSpPr>
        <p:spPr>
          <a:xfrm>
            <a:off x="987552" y="3639312"/>
            <a:ext cx="786384" cy="0"/>
          </a:xfrm>
          <a:prstGeom prst="line">
            <a:avLst/>
          </a:prstGeom>
          <a:noFill/>
          <a:ln w="27940">
            <a:solidFill>
              <a:srgbClr val="6D28D9"/>
            </a:solidFill>
            <a:prstDash val="solid"/>
          </a:ln>
        </p:spPr>
      </p:sp>
      <p:sp>
        <p:nvSpPr>
          <p:cNvPr id="24" name="Text 22"/>
          <p:cNvSpPr/>
          <p:nvPr/>
        </p:nvSpPr>
        <p:spPr>
          <a:xfrm>
            <a:off x="987552" y="381304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25" name="Text 23"/>
          <p:cNvSpPr/>
          <p:nvPr/>
        </p:nvSpPr>
        <p:spPr>
          <a:xfrm>
            <a:off x="987552" y="414223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Archivos</a:t>
            </a:r>
            <a:endParaRPr lang="en-US" sz="1600" dirty="0"/>
          </a:p>
        </p:txBody>
      </p:sp>
      <p:sp>
        <p:nvSpPr>
          <p:cNvPr id="26" name="Text 24"/>
          <p:cNvSpPr/>
          <p:nvPr/>
        </p:nvSpPr>
        <p:spPr>
          <a:xfrm>
            <a:off x="987552" y="472744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almacenamiento privado</a:t>
            </a:r>
            <a:endParaRPr lang="en-US" sz="1050" dirty="0"/>
          </a:p>
        </p:txBody>
      </p:sp>
      <p:sp>
        <p:nvSpPr>
          <p:cNvPr id="27" name="Shape 25"/>
          <p:cNvSpPr/>
          <p:nvPr/>
        </p:nvSpPr>
        <p:spPr>
          <a:xfrm>
            <a:off x="4535424" y="3429000"/>
            <a:ext cx="3246120" cy="1207008"/>
          </a:xfrm>
          <a:prstGeom prst="roundRect">
            <a:avLst>
              <a:gd name="adj" fmla="val 6061"/>
            </a:avLst>
          </a:prstGeom>
          <a:solidFill>
            <a:srgbClr val="15111D"/>
          </a:solidFill>
          <a:ln w="12700">
            <a:solidFill>
              <a:srgbClr val="2B2237">
                <a:alpha val="96000"/>
              </a:srgbClr>
            </a:solidFill>
            <a:prstDash val="solid"/>
          </a:ln>
        </p:spPr>
      </p:sp>
      <p:sp>
        <p:nvSpPr>
          <p:cNvPr id="28" name="Shape 26"/>
          <p:cNvSpPr/>
          <p:nvPr/>
        </p:nvSpPr>
        <p:spPr>
          <a:xfrm>
            <a:off x="4736592" y="3639312"/>
            <a:ext cx="786384" cy="0"/>
          </a:xfrm>
          <a:prstGeom prst="line">
            <a:avLst/>
          </a:prstGeom>
          <a:noFill/>
          <a:ln w="27940">
            <a:solidFill>
              <a:srgbClr val="9B2CFF"/>
            </a:solidFill>
            <a:prstDash val="solid"/>
          </a:ln>
        </p:spPr>
      </p:sp>
      <p:sp>
        <p:nvSpPr>
          <p:cNvPr id="29" name="Text 27"/>
          <p:cNvSpPr/>
          <p:nvPr/>
        </p:nvSpPr>
        <p:spPr>
          <a:xfrm>
            <a:off x="4736592" y="381304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30" name="Text 28"/>
          <p:cNvSpPr/>
          <p:nvPr/>
        </p:nvSpPr>
        <p:spPr>
          <a:xfrm>
            <a:off x="4736592" y="414223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Auditoría</a:t>
            </a:r>
            <a:endParaRPr lang="en-US" sz="1600" dirty="0"/>
          </a:p>
        </p:txBody>
      </p:sp>
      <p:sp>
        <p:nvSpPr>
          <p:cNvPr id="31" name="Text 29"/>
          <p:cNvSpPr/>
          <p:nvPr/>
        </p:nvSpPr>
        <p:spPr>
          <a:xfrm>
            <a:off x="4736592" y="472744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acciones relevantes</a:t>
            </a:r>
            <a:endParaRPr lang="en-US" sz="1050" dirty="0"/>
          </a:p>
        </p:txBody>
      </p:sp>
      <p:sp>
        <p:nvSpPr>
          <p:cNvPr id="32" name="Shape 30"/>
          <p:cNvSpPr/>
          <p:nvPr/>
        </p:nvSpPr>
        <p:spPr>
          <a:xfrm>
            <a:off x="8284464" y="3429000"/>
            <a:ext cx="3246120" cy="1207008"/>
          </a:xfrm>
          <a:prstGeom prst="roundRect">
            <a:avLst>
              <a:gd name="adj" fmla="val 6061"/>
            </a:avLst>
          </a:prstGeom>
          <a:solidFill>
            <a:srgbClr val="15111D"/>
          </a:solidFill>
          <a:ln w="12700">
            <a:solidFill>
              <a:srgbClr val="2B2237">
                <a:alpha val="96000"/>
              </a:srgbClr>
            </a:solidFill>
            <a:prstDash val="solid"/>
          </a:ln>
        </p:spPr>
      </p:sp>
      <p:sp>
        <p:nvSpPr>
          <p:cNvPr id="33" name="Shape 31"/>
          <p:cNvSpPr/>
          <p:nvPr/>
        </p:nvSpPr>
        <p:spPr>
          <a:xfrm>
            <a:off x="8485632" y="3639312"/>
            <a:ext cx="786384" cy="0"/>
          </a:xfrm>
          <a:prstGeom prst="line">
            <a:avLst/>
          </a:prstGeom>
          <a:noFill/>
          <a:ln w="27940">
            <a:solidFill>
              <a:srgbClr val="6D28D9"/>
            </a:solidFill>
            <a:prstDash val="solid"/>
          </a:ln>
        </p:spPr>
      </p:sp>
      <p:sp>
        <p:nvSpPr>
          <p:cNvPr id="34" name="Text 32"/>
          <p:cNvSpPr/>
          <p:nvPr/>
        </p:nvSpPr>
        <p:spPr>
          <a:xfrm>
            <a:off x="8485632" y="3813048"/>
            <a:ext cx="284378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CONTROL</a:t>
            </a:r>
            <a:endParaRPr lang="en-US" sz="850" dirty="0"/>
          </a:p>
        </p:txBody>
      </p:sp>
      <p:sp>
        <p:nvSpPr>
          <p:cNvPr id="35" name="Text 33"/>
          <p:cNvSpPr/>
          <p:nvPr/>
        </p:nvSpPr>
        <p:spPr>
          <a:xfrm>
            <a:off x="8485632" y="4142232"/>
            <a:ext cx="284378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Minimización</a:t>
            </a:r>
            <a:endParaRPr lang="en-US" sz="1600" dirty="0"/>
          </a:p>
        </p:txBody>
      </p:sp>
      <p:sp>
        <p:nvSpPr>
          <p:cNvPr id="36" name="Text 34"/>
          <p:cNvSpPr/>
          <p:nvPr/>
        </p:nvSpPr>
        <p:spPr>
          <a:xfrm>
            <a:off x="8485632" y="4727448"/>
            <a:ext cx="2843784" cy="-237744"/>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IA con contexto reducido</a:t>
            </a:r>
            <a:endParaRPr lang="en-US" sz="1050" dirty="0"/>
          </a:p>
        </p:txBody>
      </p:sp>
      <p:sp>
        <p:nvSpPr>
          <p:cNvPr id="37" name="Text 35"/>
          <p:cNvSpPr/>
          <p:nvPr/>
        </p:nvSpPr>
        <p:spPr>
          <a:xfrm>
            <a:off x="950976" y="5230368"/>
            <a:ext cx="10241280" cy="320040"/>
          </a:xfrm>
          <a:prstGeom prst="rect">
            <a:avLst/>
          </a:prstGeom>
          <a:noFill/>
          <a:ln/>
        </p:spPr>
        <p:txBody>
          <a:bodyPr wrap="square" lIns="0" tIns="0" rIns="0" bIns="0" rtlCol="0" anchor="ctr">
            <a:normAutofit/>
          </a:bodyPr>
          <a:lstStyle/>
          <a:p>
            <a:pPr algn="ctr" indent="0" marL="0">
              <a:buNone/>
            </a:pPr>
            <a:r>
              <a:rPr lang="en-US" sz="1450" b="1" dirty="0">
                <a:solidFill>
                  <a:srgbClr val="C084FC"/>
                </a:solidFill>
                <a:latin typeface="Manrope" pitchFamily="34" charset="0"/>
                <a:ea typeface="Manrope" pitchFamily="34" charset="-122"/>
                <a:cs typeface="Manrope" pitchFamily="34" charset="-120"/>
              </a:rPr>
              <a:t>Criterio de defensa: conocer un identificador no debe ser suficiente para acceder a un perfil o documento ajeno.</a:t>
            </a:r>
            <a:endParaRPr lang="en-US" sz="1450" dirty="0"/>
          </a:p>
        </p:txBody>
      </p:sp>
      <p:pic>
        <p:nvPicPr>
          <p:cNvPr id="38"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9" name="Text 36"/>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40" name="Text 37"/>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09</a:t>
            </a:r>
            <a:endParaRPr lang="en-US" sz="800" dirty="0"/>
          </a:p>
        </p:txBody>
      </p:sp>
      <p:sp>
        <p:nvSpPr>
          <p:cNvPr id="41" name="Shape 38"/>
          <p:cNvSpPr/>
          <p:nvPr/>
        </p:nvSpPr>
        <p:spPr>
          <a:xfrm>
            <a:off x="475488" y="6181344"/>
            <a:ext cx="11247120" cy="0"/>
          </a:xfrm>
          <a:prstGeom prst="line">
            <a:avLst/>
          </a:prstGeom>
          <a:noFill/>
          <a:ln w="8890">
            <a:solidFill>
              <a:srgbClr val="2B2237">
                <a:alpha val="75000"/>
              </a:srgbClr>
            </a:solidFill>
            <a:prstDash val="solid"/>
          </a:ln>
        </p:spPr>
      </p:sp>
      <p:sp>
        <p:nvSpPr>
          <p:cNvPr id="42" name="Text 39"/>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seguridad del perfil</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Metodología y validación</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La evaluación es técnica y de uso, no clínica.</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Shape 5"/>
          <p:cNvSpPr/>
          <p:nvPr/>
        </p:nvSpPr>
        <p:spPr>
          <a:xfrm>
            <a:off x="749808" y="1572768"/>
            <a:ext cx="2606040" cy="1234440"/>
          </a:xfrm>
          <a:prstGeom prst="roundRect">
            <a:avLst>
              <a:gd name="adj" fmla="val 5926"/>
            </a:avLst>
          </a:prstGeom>
          <a:solidFill>
            <a:srgbClr val="15111D"/>
          </a:solidFill>
          <a:ln w="12700">
            <a:solidFill>
              <a:srgbClr val="2B2237">
                <a:alpha val="96000"/>
              </a:srgbClr>
            </a:solidFill>
            <a:prstDash val="solid"/>
          </a:ln>
        </p:spPr>
      </p:sp>
      <p:sp>
        <p:nvSpPr>
          <p:cNvPr id="8" name="Shape 6"/>
          <p:cNvSpPr/>
          <p:nvPr/>
        </p:nvSpPr>
        <p:spPr>
          <a:xfrm>
            <a:off x="950976" y="1783080"/>
            <a:ext cx="786384" cy="0"/>
          </a:xfrm>
          <a:prstGeom prst="line">
            <a:avLst/>
          </a:prstGeom>
          <a:noFill/>
          <a:ln w="27940">
            <a:solidFill>
              <a:srgbClr val="9B2CFF"/>
            </a:solidFill>
            <a:prstDash val="solid"/>
          </a:ln>
        </p:spPr>
      </p:sp>
      <p:sp>
        <p:nvSpPr>
          <p:cNvPr id="9" name="Text 7"/>
          <p:cNvSpPr/>
          <p:nvPr/>
        </p:nvSpPr>
        <p:spPr>
          <a:xfrm>
            <a:off x="950976" y="1956816"/>
            <a:ext cx="22037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ENFOQUE</a:t>
            </a:r>
            <a:endParaRPr lang="en-US" sz="850" dirty="0"/>
          </a:p>
        </p:txBody>
      </p:sp>
      <p:sp>
        <p:nvSpPr>
          <p:cNvPr id="10" name="Text 8"/>
          <p:cNvSpPr/>
          <p:nvPr/>
        </p:nvSpPr>
        <p:spPr>
          <a:xfrm>
            <a:off x="950976" y="2286000"/>
            <a:ext cx="22037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Mixto</a:t>
            </a:r>
            <a:endParaRPr lang="en-US" sz="1600" dirty="0"/>
          </a:p>
        </p:txBody>
      </p:sp>
      <p:sp>
        <p:nvSpPr>
          <p:cNvPr id="11" name="Text 9"/>
          <p:cNvSpPr/>
          <p:nvPr/>
        </p:nvSpPr>
        <p:spPr>
          <a:xfrm>
            <a:off x="950976" y="2871216"/>
            <a:ext cx="2203704" cy="-210312"/>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Datos cuantitativos y cualitativos para diagnosticar necesidades y evaluar el prototipo.</a:t>
            </a:r>
            <a:endParaRPr lang="en-US" sz="1050" dirty="0"/>
          </a:p>
        </p:txBody>
      </p:sp>
      <p:sp>
        <p:nvSpPr>
          <p:cNvPr id="12" name="Shape 10"/>
          <p:cNvSpPr/>
          <p:nvPr/>
        </p:nvSpPr>
        <p:spPr>
          <a:xfrm>
            <a:off x="3657600" y="1572768"/>
            <a:ext cx="2606040" cy="1234440"/>
          </a:xfrm>
          <a:prstGeom prst="roundRect">
            <a:avLst>
              <a:gd name="adj" fmla="val 5926"/>
            </a:avLst>
          </a:prstGeom>
          <a:solidFill>
            <a:srgbClr val="15111D"/>
          </a:solidFill>
          <a:ln w="12700">
            <a:solidFill>
              <a:srgbClr val="2B2237">
                <a:alpha val="96000"/>
              </a:srgbClr>
            </a:solidFill>
            <a:prstDash val="solid"/>
          </a:ln>
        </p:spPr>
      </p:sp>
      <p:sp>
        <p:nvSpPr>
          <p:cNvPr id="13" name="Shape 11"/>
          <p:cNvSpPr/>
          <p:nvPr/>
        </p:nvSpPr>
        <p:spPr>
          <a:xfrm>
            <a:off x="3858768" y="1783080"/>
            <a:ext cx="786384" cy="0"/>
          </a:xfrm>
          <a:prstGeom prst="line">
            <a:avLst/>
          </a:prstGeom>
          <a:noFill/>
          <a:ln w="27940">
            <a:solidFill>
              <a:srgbClr val="9B2CFF"/>
            </a:solidFill>
            <a:prstDash val="solid"/>
          </a:ln>
        </p:spPr>
      </p:sp>
      <p:sp>
        <p:nvSpPr>
          <p:cNvPr id="14" name="Text 12"/>
          <p:cNvSpPr/>
          <p:nvPr/>
        </p:nvSpPr>
        <p:spPr>
          <a:xfrm>
            <a:off x="3858768" y="1956816"/>
            <a:ext cx="22037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TIPO</a:t>
            </a:r>
            <a:endParaRPr lang="en-US" sz="850" dirty="0"/>
          </a:p>
        </p:txBody>
      </p:sp>
      <p:sp>
        <p:nvSpPr>
          <p:cNvPr id="15" name="Text 13"/>
          <p:cNvSpPr/>
          <p:nvPr/>
        </p:nvSpPr>
        <p:spPr>
          <a:xfrm>
            <a:off x="3858768" y="2286000"/>
            <a:ext cx="22037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Aplicada</a:t>
            </a:r>
            <a:endParaRPr lang="en-US" sz="1600" dirty="0"/>
          </a:p>
        </p:txBody>
      </p:sp>
      <p:sp>
        <p:nvSpPr>
          <p:cNvPr id="16" name="Text 14"/>
          <p:cNvSpPr/>
          <p:nvPr/>
        </p:nvSpPr>
        <p:spPr>
          <a:xfrm>
            <a:off x="3858768" y="2871216"/>
            <a:ext cx="2203704" cy="-210312"/>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Construcción de una solución tecnológica orientada a un problema concreto.</a:t>
            </a:r>
            <a:endParaRPr lang="en-US" sz="1050" dirty="0"/>
          </a:p>
        </p:txBody>
      </p:sp>
      <p:sp>
        <p:nvSpPr>
          <p:cNvPr id="17" name="Shape 15"/>
          <p:cNvSpPr/>
          <p:nvPr/>
        </p:nvSpPr>
        <p:spPr>
          <a:xfrm>
            <a:off x="6565392" y="1572768"/>
            <a:ext cx="2606040" cy="1234440"/>
          </a:xfrm>
          <a:prstGeom prst="roundRect">
            <a:avLst>
              <a:gd name="adj" fmla="val 5926"/>
            </a:avLst>
          </a:prstGeom>
          <a:solidFill>
            <a:srgbClr val="15111D"/>
          </a:solidFill>
          <a:ln w="12700">
            <a:solidFill>
              <a:srgbClr val="2B2237">
                <a:alpha val="96000"/>
              </a:srgbClr>
            </a:solidFill>
            <a:prstDash val="solid"/>
          </a:ln>
        </p:spPr>
      </p:sp>
      <p:sp>
        <p:nvSpPr>
          <p:cNvPr id="18" name="Shape 16"/>
          <p:cNvSpPr/>
          <p:nvPr/>
        </p:nvSpPr>
        <p:spPr>
          <a:xfrm>
            <a:off x="6766560" y="1783080"/>
            <a:ext cx="786384" cy="0"/>
          </a:xfrm>
          <a:prstGeom prst="line">
            <a:avLst/>
          </a:prstGeom>
          <a:noFill/>
          <a:ln w="27940">
            <a:solidFill>
              <a:srgbClr val="9B2CFF"/>
            </a:solidFill>
            <a:prstDash val="solid"/>
          </a:ln>
        </p:spPr>
      </p:sp>
      <p:sp>
        <p:nvSpPr>
          <p:cNvPr id="19" name="Text 17"/>
          <p:cNvSpPr/>
          <p:nvPr/>
        </p:nvSpPr>
        <p:spPr>
          <a:xfrm>
            <a:off x="6766560" y="1956816"/>
            <a:ext cx="220370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ALCANCE</a:t>
            </a:r>
            <a:endParaRPr lang="en-US" sz="850" dirty="0"/>
          </a:p>
        </p:txBody>
      </p:sp>
      <p:sp>
        <p:nvSpPr>
          <p:cNvPr id="20" name="Text 18"/>
          <p:cNvSpPr/>
          <p:nvPr/>
        </p:nvSpPr>
        <p:spPr>
          <a:xfrm>
            <a:off x="6766560" y="2286000"/>
            <a:ext cx="220370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Descriptivo</a:t>
            </a:r>
            <a:endParaRPr lang="en-US" sz="1600" dirty="0"/>
          </a:p>
        </p:txBody>
      </p:sp>
      <p:sp>
        <p:nvSpPr>
          <p:cNvPr id="21" name="Text 19"/>
          <p:cNvSpPr/>
          <p:nvPr/>
        </p:nvSpPr>
        <p:spPr>
          <a:xfrm>
            <a:off x="6766560" y="2871216"/>
            <a:ext cx="2203704" cy="-210312"/>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No busca demostrar eficacia clínica ni generalizar estadísticamente.</a:t>
            </a:r>
            <a:endParaRPr lang="en-US" sz="1050" dirty="0"/>
          </a:p>
        </p:txBody>
      </p:sp>
      <p:sp>
        <p:nvSpPr>
          <p:cNvPr id="22" name="Shape 20"/>
          <p:cNvSpPr/>
          <p:nvPr/>
        </p:nvSpPr>
        <p:spPr>
          <a:xfrm>
            <a:off x="9473184" y="1572768"/>
            <a:ext cx="1965960" cy="1234440"/>
          </a:xfrm>
          <a:prstGeom prst="roundRect">
            <a:avLst>
              <a:gd name="adj" fmla="val 5926"/>
            </a:avLst>
          </a:prstGeom>
          <a:solidFill>
            <a:srgbClr val="15111D"/>
          </a:solidFill>
          <a:ln w="12700">
            <a:solidFill>
              <a:srgbClr val="2B2237">
                <a:alpha val="96000"/>
              </a:srgbClr>
            </a:solidFill>
            <a:prstDash val="solid"/>
          </a:ln>
        </p:spPr>
      </p:sp>
      <p:sp>
        <p:nvSpPr>
          <p:cNvPr id="23" name="Shape 21"/>
          <p:cNvSpPr/>
          <p:nvPr/>
        </p:nvSpPr>
        <p:spPr>
          <a:xfrm>
            <a:off x="9674352" y="1783080"/>
            <a:ext cx="786384" cy="0"/>
          </a:xfrm>
          <a:prstGeom prst="line">
            <a:avLst/>
          </a:prstGeom>
          <a:noFill/>
          <a:ln w="27940">
            <a:solidFill>
              <a:srgbClr val="9B2CFF"/>
            </a:solidFill>
            <a:prstDash val="solid"/>
          </a:ln>
        </p:spPr>
      </p:sp>
      <p:sp>
        <p:nvSpPr>
          <p:cNvPr id="24" name="Text 22"/>
          <p:cNvSpPr/>
          <p:nvPr/>
        </p:nvSpPr>
        <p:spPr>
          <a:xfrm>
            <a:off x="9674352" y="1956816"/>
            <a:ext cx="1563624" cy="201168"/>
          </a:xfrm>
          <a:prstGeom prst="rect">
            <a:avLst/>
          </a:prstGeom>
          <a:noFill/>
          <a:ln/>
        </p:spPr>
        <p:txBody>
          <a:bodyPr wrap="square" lIns="0" tIns="0" rIns="0" bIns="0" rtlCol="0" anchor="ctr">
            <a:normAutofit/>
          </a:bodyPr>
          <a:lstStyle/>
          <a:p>
            <a:pPr indent="0" marL="0">
              <a:buNone/>
            </a:pPr>
            <a:r>
              <a:rPr lang="en-US" sz="850" b="1" dirty="0">
                <a:solidFill>
                  <a:srgbClr val="C084FC"/>
                </a:solidFill>
                <a:latin typeface="Manrope" pitchFamily="34" charset="0"/>
                <a:ea typeface="Manrope" pitchFamily="34" charset="-122"/>
                <a:cs typeface="Manrope" pitchFamily="34" charset="-120"/>
              </a:rPr>
              <a:t>GESTIÓN</a:t>
            </a:r>
            <a:endParaRPr lang="en-US" sz="850" dirty="0"/>
          </a:p>
        </p:txBody>
      </p:sp>
      <p:sp>
        <p:nvSpPr>
          <p:cNvPr id="25" name="Text 23"/>
          <p:cNvSpPr/>
          <p:nvPr/>
        </p:nvSpPr>
        <p:spPr>
          <a:xfrm>
            <a:off x="9674352" y="2286000"/>
            <a:ext cx="1563624" cy="493776"/>
          </a:xfrm>
          <a:prstGeom prst="rect">
            <a:avLst/>
          </a:prstGeom>
          <a:noFill/>
          <a:ln/>
        </p:spPr>
        <p:txBody>
          <a:bodyPr wrap="square" lIns="0" tIns="0" rIns="0" bIns="0" rtlCol="0" anchor="ctr">
            <a:normAutofit/>
          </a:bodyPr>
          <a:lstStyle/>
          <a:p>
            <a:pPr indent="0" marL="0">
              <a:buNone/>
            </a:pPr>
            <a:r>
              <a:rPr lang="en-US" sz="1600" b="1" dirty="0">
                <a:solidFill>
                  <a:srgbClr val="D2CADC"/>
                </a:solidFill>
                <a:latin typeface="Manrope" pitchFamily="34" charset="0"/>
                <a:ea typeface="Manrope" pitchFamily="34" charset="-122"/>
                <a:cs typeface="Manrope" pitchFamily="34" charset="-120"/>
              </a:rPr>
              <a:t>Kanban</a:t>
            </a:r>
            <a:endParaRPr lang="en-US" sz="1600" dirty="0"/>
          </a:p>
        </p:txBody>
      </p:sp>
      <p:sp>
        <p:nvSpPr>
          <p:cNvPr id="26" name="Text 24"/>
          <p:cNvSpPr/>
          <p:nvPr/>
        </p:nvSpPr>
        <p:spPr>
          <a:xfrm>
            <a:off x="9674352" y="2871216"/>
            <a:ext cx="1563624" cy="-210312"/>
          </a:xfrm>
          <a:prstGeom prst="rect">
            <a:avLst/>
          </a:prstGeom>
          <a:noFill/>
          <a:ln/>
        </p:spPr>
        <p:txBody>
          <a:bodyPr wrap="square" lIns="0" tIns="0" rIns="0" bIns="0" rtlCol="0" anchor="t">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Flujo incremental con tareas verificables.</a:t>
            </a:r>
            <a:endParaRPr lang="en-US" sz="1050" dirty="0"/>
          </a:p>
        </p:txBody>
      </p:sp>
      <p:sp>
        <p:nvSpPr>
          <p:cNvPr id="27" name="Shape 25"/>
          <p:cNvSpPr/>
          <p:nvPr/>
        </p:nvSpPr>
        <p:spPr>
          <a:xfrm>
            <a:off x="749808" y="3383280"/>
            <a:ext cx="10698480" cy="1417320"/>
          </a:xfrm>
          <a:prstGeom prst="roundRect">
            <a:avLst>
              <a:gd name="adj" fmla="val 5161"/>
            </a:avLst>
          </a:prstGeom>
          <a:solidFill>
            <a:srgbClr val="15111D"/>
          </a:solidFill>
          <a:ln w="12700">
            <a:solidFill>
              <a:srgbClr val="2B2237"/>
            </a:solidFill>
            <a:prstDash val="solid"/>
          </a:ln>
        </p:spPr>
      </p:sp>
      <p:sp>
        <p:nvSpPr>
          <p:cNvPr id="28" name="Text 26"/>
          <p:cNvSpPr/>
          <p:nvPr/>
        </p:nvSpPr>
        <p:spPr>
          <a:xfrm>
            <a:off x="1005840" y="3639312"/>
            <a:ext cx="2743200" cy="256032"/>
          </a:xfrm>
          <a:prstGeom prst="rect">
            <a:avLst/>
          </a:prstGeom>
          <a:noFill/>
          <a:ln/>
        </p:spPr>
        <p:txBody>
          <a:bodyPr wrap="square" lIns="0" tIns="0" rIns="0" bIns="0" rtlCol="0" anchor="ctr"/>
          <a:lstStyle/>
          <a:p>
            <a:pPr indent="0" marL="0">
              <a:buNone/>
            </a:pPr>
            <a:r>
              <a:rPr lang="en-US" sz="1200" b="1" dirty="0">
                <a:solidFill>
                  <a:srgbClr val="C084FC"/>
                </a:solidFill>
                <a:latin typeface="Manrope" pitchFamily="34" charset="0"/>
                <a:ea typeface="Manrope" pitchFamily="34" charset="-122"/>
                <a:cs typeface="Manrope" pitchFamily="34" charset="-120"/>
              </a:rPr>
              <a:t>Instrumentos de evaluación</a:t>
            </a:r>
            <a:endParaRPr lang="en-US" sz="1200" dirty="0"/>
          </a:p>
        </p:txBody>
      </p:sp>
      <p:sp>
        <p:nvSpPr>
          <p:cNvPr id="29" name="Text 27"/>
          <p:cNvSpPr/>
          <p:nvPr/>
        </p:nvSpPr>
        <p:spPr>
          <a:xfrm>
            <a:off x="1005840" y="4050792"/>
            <a:ext cx="9966960" cy="292608"/>
          </a:xfrm>
          <a:prstGeom prst="rect">
            <a:avLst/>
          </a:prstGeom>
          <a:noFill/>
          <a:ln/>
        </p:spPr>
        <p:txBody>
          <a:bodyPr wrap="square" lIns="0" tIns="0" rIns="0" bIns="0" rtlCol="0" anchor="ctr">
            <a:normAutofit/>
          </a:bodyPr>
          <a:lstStyle/>
          <a:p>
            <a:pPr indent="0" marL="0">
              <a:buNone/>
            </a:pPr>
            <a:r>
              <a:rPr lang="en-US" sz="1550" b="1" dirty="0">
                <a:solidFill>
                  <a:srgbClr val="D2CADC"/>
                </a:solidFill>
                <a:latin typeface="Manrope" pitchFamily="34" charset="0"/>
                <a:ea typeface="Manrope" pitchFamily="34" charset="-122"/>
                <a:cs typeface="Manrope" pitchFamily="34" charset="-120"/>
              </a:rPr>
              <a:t>Encuesta a usuarios · Entrevistas a profesionales · Guía de tareas · Observación · SUS · Rúbrica de salidas IA con casos ficticios/sintéticos</a:t>
            </a:r>
            <a:endParaRPr lang="en-US" sz="1550" dirty="0"/>
          </a:p>
        </p:txBody>
      </p:sp>
      <p:sp>
        <p:nvSpPr>
          <p:cNvPr id="30" name="Text 28"/>
          <p:cNvSpPr/>
          <p:nvPr/>
        </p:nvSpPr>
        <p:spPr>
          <a:xfrm>
            <a:off x="1005840" y="5074920"/>
            <a:ext cx="9966960" cy="228600"/>
          </a:xfrm>
          <a:prstGeom prst="rect">
            <a:avLst/>
          </a:prstGeom>
          <a:noFill/>
          <a:ln/>
        </p:spPr>
        <p:txBody>
          <a:bodyPr wrap="square" lIns="0" tIns="0" rIns="0" bIns="0" rtlCol="0" anchor="ctr">
            <a:normAutofit/>
          </a:bodyPr>
          <a:lstStyle/>
          <a:p>
            <a:pPr algn="ctr" indent="0" marL="0">
              <a:buNone/>
            </a:pPr>
            <a:r>
              <a:rPr lang="en-US" sz="1300" dirty="0">
                <a:solidFill>
                  <a:srgbClr val="9B91A8"/>
                </a:solidFill>
                <a:latin typeface="Manrope" pitchFamily="34" charset="0"/>
                <a:ea typeface="Manrope" pitchFamily="34" charset="-122"/>
                <a:cs typeface="Manrope" pitchFamily="34" charset="-120"/>
              </a:rPr>
              <a:t>Muestra exploratoria: mínimo 20 usuarios potenciales y 5 a 8 profesionales de salud.</a:t>
            </a:r>
            <a:endParaRPr lang="en-US" sz="1300" dirty="0"/>
          </a:p>
        </p:txBody>
      </p:sp>
      <p:pic>
        <p:nvPicPr>
          <p:cNvPr id="31"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2" name="Text 29"/>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3" name="Text 30"/>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10</a:t>
            </a:r>
            <a:endParaRPr lang="en-US" sz="800" dirty="0"/>
          </a:p>
        </p:txBody>
      </p:sp>
      <p:sp>
        <p:nvSpPr>
          <p:cNvPr id="34" name="Shape 31"/>
          <p:cNvSpPr/>
          <p:nvPr/>
        </p:nvSpPr>
        <p:spPr>
          <a:xfrm>
            <a:off x="475488" y="6181344"/>
            <a:ext cx="11247120" cy="0"/>
          </a:xfrm>
          <a:prstGeom prst="line">
            <a:avLst/>
          </a:prstGeom>
          <a:noFill/>
          <a:ln w="8890">
            <a:solidFill>
              <a:srgbClr val="2B2237">
                <a:alpha val="75000"/>
              </a:srgbClr>
            </a:solidFill>
            <a:prstDash val="solid"/>
          </a:ln>
        </p:spPr>
      </p:sp>
      <p:sp>
        <p:nvSpPr>
          <p:cNvPr id="35" name="Text 32"/>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metodología</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Plan de trabajo</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Ejecución incremental entre octubre de 2026 y febrero de 2027.</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sp>
        <p:nvSpPr>
          <p:cNvPr id="7" name="Text 5"/>
          <p:cNvSpPr/>
          <p:nvPr/>
        </p:nvSpPr>
        <p:spPr>
          <a:xfrm>
            <a:off x="2788920" y="1508760"/>
            <a:ext cx="1097280" cy="182880"/>
          </a:xfrm>
          <a:prstGeom prst="rect">
            <a:avLst/>
          </a:prstGeom>
          <a:noFill/>
          <a:ln/>
        </p:spPr>
        <p:txBody>
          <a:bodyPr wrap="square" lIns="0" tIns="0" rIns="0" bIns="0" rtlCol="0" anchor="ctr"/>
          <a:lstStyle/>
          <a:p>
            <a:pPr algn="ctr" indent="0" marL="0">
              <a:buNone/>
            </a:pPr>
            <a:r>
              <a:rPr lang="en-US" sz="900" b="1" dirty="0">
                <a:solidFill>
                  <a:srgbClr val="C084FC"/>
                </a:solidFill>
                <a:latin typeface="Manrope" pitchFamily="34" charset="0"/>
                <a:ea typeface="Manrope" pitchFamily="34" charset="-122"/>
                <a:cs typeface="Manrope" pitchFamily="34" charset="-120"/>
              </a:rPr>
              <a:t>OCT</a:t>
            </a:r>
            <a:endParaRPr lang="en-US" sz="900" dirty="0"/>
          </a:p>
        </p:txBody>
      </p:sp>
      <p:sp>
        <p:nvSpPr>
          <p:cNvPr id="8" name="Shape 6"/>
          <p:cNvSpPr/>
          <p:nvPr/>
        </p:nvSpPr>
        <p:spPr>
          <a:xfrm>
            <a:off x="3337560" y="1783080"/>
            <a:ext cx="0" cy="3566160"/>
          </a:xfrm>
          <a:prstGeom prst="line">
            <a:avLst/>
          </a:prstGeom>
          <a:noFill/>
          <a:ln w="7620">
            <a:solidFill>
              <a:srgbClr val="2B2237">
                <a:alpha val="60000"/>
              </a:srgbClr>
            </a:solidFill>
            <a:prstDash val="solid"/>
          </a:ln>
        </p:spPr>
      </p:sp>
      <p:sp>
        <p:nvSpPr>
          <p:cNvPr id="9" name="Text 7"/>
          <p:cNvSpPr/>
          <p:nvPr/>
        </p:nvSpPr>
        <p:spPr>
          <a:xfrm>
            <a:off x="4389120" y="1508760"/>
            <a:ext cx="1097280" cy="182880"/>
          </a:xfrm>
          <a:prstGeom prst="rect">
            <a:avLst/>
          </a:prstGeom>
          <a:noFill/>
          <a:ln/>
        </p:spPr>
        <p:txBody>
          <a:bodyPr wrap="square" lIns="0" tIns="0" rIns="0" bIns="0" rtlCol="0" anchor="ctr"/>
          <a:lstStyle/>
          <a:p>
            <a:pPr algn="ctr" indent="0" marL="0">
              <a:buNone/>
            </a:pPr>
            <a:r>
              <a:rPr lang="en-US" sz="900" b="1" dirty="0">
                <a:solidFill>
                  <a:srgbClr val="C084FC"/>
                </a:solidFill>
                <a:latin typeface="Manrope" pitchFamily="34" charset="0"/>
                <a:ea typeface="Manrope" pitchFamily="34" charset="-122"/>
                <a:cs typeface="Manrope" pitchFamily="34" charset="-120"/>
              </a:rPr>
              <a:t>NOV</a:t>
            </a:r>
            <a:endParaRPr lang="en-US" sz="900" dirty="0"/>
          </a:p>
        </p:txBody>
      </p:sp>
      <p:sp>
        <p:nvSpPr>
          <p:cNvPr id="10" name="Shape 8"/>
          <p:cNvSpPr/>
          <p:nvPr/>
        </p:nvSpPr>
        <p:spPr>
          <a:xfrm>
            <a:off x="4937760" y="1783080"/>
            <a:ext cx="0" cy="3566160"/>
          </a:xfrm>
          <a:prstGeom prst="line">
            <a:avLst/>
          </a:prstGeom>
          <a:noFill/>
          <a:ln w="7620">
            <a:solidFill>
              <a:srgbClr val="2B2237">
                <a:alpha val="60000"/>
              </a:srgbClr>
            </a:solidFill>
            <a:prstDash val="solid"/>
          </a:ln>
        </p:spPr>
      </p:sp>
      <p:sp>
        <p:nvSpPr>
          <p:cNvPr id="11" name="Text 9"/>
          <p:cNvSpPr/>
          <p:nvPr/>
        </p:nvSpPr>
        <p:spPr>
          <a:xfrm>
            <a:off x="5989320" y="1508760"/>
            <a:ext cx="1097280" cy="182880"/>
          </a:xfrm>
          <a:prstGeom prst="rect">
            <a:avLst/>
          </a:prstGeom>
          <a:noFill/>
          <a:ln/>
        </p:spPr>
        <p:txBody>
          <a:bodyPr wrap="square" lIns="0" tIns="0" rIns="0" bIns="0" rtlCol="0" anchor="ctr"/>
          <a:lstStyle/>
          <a:p>
            <a:pPr algn="ctr" indent="0" marL="0">
              <a:buNone/>
            </a:pPr>
            <a:r>
              <a:rPr lang="en-US" sz="900" b="1" dirty="0">
                <a:solidFill>
                  <a:srgbClr val="C084FC"/>
                </a:solidFill>
                <a:latin typeface="Manrope" pitchFamily="34" charset="0"/>
                <a:ea typeface="Manrope" pitchFamily="34" charset="-122"/>
                <a:cs typeface="Manrope" pitchFamily="34" charset="-120"/>
              </a:rPr>
              <a:t>DIC</a:t>
            </a:r>
            <a:endParaRPr lang="en-US" sz="900" dirty="0"/>
          </a:p>
        </p:txBody>
      </p:sp>
      <p:sp>
        <p:nvSpPr>
          <p:cNvPr id="12" name="Shape 10"/>
          <p:cNvSpPr/>
          <p:nvPr/>
        </p:nvSpPr>
        <p:spPr>
          <a:xfrm>
            <a:off x="6537960" y="1783080"/>
            <a:ext cx="0" cy="3566160"/>
          </a:xfrm>
          <a:prstGeom prst="line">
            <a:avLst/>
          </a:prstGeom>
          <a:noFill/>
          <a:ln w="7620">
            <a:solidFill>
              <a:srgbClr val="2B2237">
                <a:alpha val="60000"/>
              </a:srgbClr>
            </a:solidFill>
            <a:prstDash val="solid"/>
          </a:ln>
        </p:spPr>
      </p:sp>
      <p:sp>
        <p:nvSpPr>
          <p:cNvPr id="13" name="Text 11"/>
          <p:cNvSpPr/>
          <p:nvPr/>
        </p:nvSpPr>
        <p:spPr>
          <a:xfrm>
            <a:off x="7589520" y="1508760"/>
            <a:ext cx="1097280" cy="182880"/>
          </a:xfrm>
          <a:prstGeom prst="rect">
            <a:avLst/>
          </a:prstGeom>
          <a:noFill/>
          <a:ln/>
        </p:spPr>
        <p:txBody>
          <a:bodyPr wrap="square" lIns="0" tIns="0" rIns="0" bIns="0" rtlCol="0" anchor="ctr"/>
          <a:lstStyle/>
          <a:p>
            <a:pPr algn="ctr" indent="0" marL="0">
              <a:buNone/>
            </a:pPr>
            <a:r>
              <a:rPr lang="en-US" sz="900" b="1" dirty="0">
                <a:solidFill>
                  <a:srgbClr val="C084FC"/>
                </a:solidFill>
                <a:latin typeface="Manrope" pitchFamily="34" charset="0"/>
                <a:ea typeface="Manrope" pitchFamily="34" charset="-122"/>
                <a:cs typeface="Manrope" pitchFamily="34" charset="-120"/>
              </a:rPr>
              <a:t>ENE</a:t>
            </a:r>
            <a:endParaRPr lang="en-US" sz="900" dirty="0"/>
          </a:p>
        </p:txBody>
      </p:sp>
      <p:sp>
        <p:nvSpPr>
          <p:cNvPr id="14" name="Shape 12"/>
          <p:cNvSpPr/>
          <p:nvPr/>
        </p:nvSpPr>
        <p:spPr>
          <a:xfrm>
            <a:off x="8138160" y="1783080"/>
            <a:ext cx="0" cy="3566160"/>
          </a:xfrm>
          <a:prstGeom prst="line">
            <a:avLst/>
          </a:prstGeom>
          <a:noFill/>
          <a:ln w="7620">
            <a:solidFill>
              <a:srgbClr val="2B2237">
                <a:alpha val="60000"/>
              </a:srgbClr>
            </a:solidFill>
            <a:prstDash val="solid"/>
          </a:ln>
        </p:spPr>
      </p:sp>
      <p:sp>
        <p:nvSpPr>
          <p:cNvPr id="15" name="Text 13"/>
          <p:cNvSpPr/>
          <p:nvPr/>
        </p:nvSpPr>
        <p:spPr>
          <a:xfrm>
            <a:off x="9189720" y="1508760"/>
            <a:ext cx="1097280" cy="182880"/>
          </a:xfrm>
          <a:prstGeom prst="rect">
            <a:avLst/>
          </a:prstGeom>
          <a:noFill/>
          <a:ln/>
        </p:spPr>
        <p:txBody>
          <a:bodyPr wrap="square" lIns="0" tIns="0" rIns="0" bIns="0" rtlCol="0" anchor="ctr"/>
          <a:lstStyle/>
          <a:p>
            <a:pPr algn="ctr" indent="0" marL="0">
              <a:buNone/>
            </a:pPr>
            <a:r>
              <a:rPr lang="en-US" sz="900" b="1" dirty="0">
                <a:solidFill>
                  <a:srgbClr val="C084FC"/>
                </a:solidFill>
                <a:latin typeface="Manrope" pitchFamily="34" charset="0"/>
                <a:ea typeface="Manrope" pitchFamily="34" charset="-122"/>
                <a:cs typeface="Manrope" pitchFamily="34" charset="-120"/>
              </a:rPr>
              <a:t>FEB</a:t>
            </a:r>
            <a:endParaRPr lang="en-US" sz="900" dirty="0"/>
          </a:p>
        </p:txBody>
      </p:sp>
      <p:sp>
        <p:nvSpPr>
          <p:cNvPr id="16" name="Shape 14"/>
          <p:cNvSpPr/>
          <p:nvPr/>
        </p:nvSpPr>
        <p:spPr>
          <a:xfrm>
            <a:off x="9738360" y="1783080"/>
            <a:ext cx="0" cy="3566160"/>
          </a:xfrm>
          <a:prstGeom prst="line">
            <a:avLst/>
          </a:prstGeom>
          <a:noFill/>
          <a:ln w="7620">
            <a:solidFill>
              <a:srgbClr val="2B2237">
                <a:alpha val="60000"/>
              </a:srgbClr>
            </a:solidFill>
            <a:prstDash val="solid"/>
          </a:ln>
        </p:spPr>
      </p:sp>
      <p:sp>
        <p:nvSpPr>
          <p:cNvPr id="17" name="Text 15"/>
          <p:cNvSpPr/>
          <p:nvPr/>
        </p:nvSpPr>
        <p:spPr>
          <a:xfrm>
            <a:off x="713232" y="195681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Planificación y diagnóstico</a:t>
            </a:r>
            <a:endParaRPr lang="en-US" sz="950" dirty="0"/>
          </a:p>
        </p:txBody>
      </p:sp>
      <p:sp>
        <p:nvSpPr>
          <p:cNvPr id="18" name="Shape 16"/>
          <p:cNvSpPr/>
          <p:nvPr/>
        </p:nvSpPr>
        <p:spPr>
          <a:xfrm>
            <a:off x="2788920" y="1920240"/>
            <a:ext cx="1600200" cy="256032"/>
          </a:xfrm>
          <a:prstGeom prst="roundRect">
            <a:avLst>
              <a:gd name="adj" fmla="val 14286"/>
            </a:avLst>
          </a:prstGeom>
          <a:solidFill>
            <a:srgbClr val="9B2CFF"/>
          </a:solidFill>
          <a:ln w="12700">
            <a:solidFill>
              <a:srgbClr val="9B2CFF">
                <a:alpha val="0"/>
              </a:srgbClr>
            </a:solidFill>
            <a:prstDash val="solid"/>
          </a:ln>
        </p:spPr>
      </p:sp>
      <p:sp>
        <p:nvSpPr>
          <p:cNvPr id="19" name="Text 17"/>
          <p:cNvSpPr/>
          <p:nvPr/>
        </p:nvSpPr>
        <p:spPr>
          <a:xfrm>
            <a:off x="713232" y="250545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Diseño y modelamiento</a:t>
            </a:r>
            <a:endParaRPr lang="en-US" sz="950" dirty="0"/>
          </a:p>
        </p:txBody>
      </p:sp>
      <p:sp>
        <p:nvSpPr>
          <p:cNvPr id="20" name="Shape 18"/>
          <p:cNvSpPr/>
          <p:nvPr/>
        </p:nvSpPr>
        <p:spPr>
          <a:xfrm>
            <a:off x="4069080" y="2468880"/>
            <a:ext cx="1920240" cy="256032"/>
          </a:xfrm>
          <a:prstGeom prst="roundRect">
            <a:avLst>
              <a:gd name="adj" fmla="val 14286"/>
            </a:avLst>
          </a:prstGeom>
          <a:solidFill>
            <a:srgbClr val="6D28D9"/>
          </a:solidFill>
          <a:ln w="12700">
            <a:solidFill>
              <a:srgbClr val="6D28D9">
                <a:alpha val="0"/>
              </a:srgbClr>
            </a:solidFill>
            <a:prstDash val="solid"/>
          </a:ln>
        </p:spPr>
      </p:sp>
      <p:sp>
        <p:nvSpPr>
          <p:cNvPr id="21" name="Text 19"/>
          <p:cNvSpPr/>
          <p:nvPr/>
        </p:nvSpPr>
        <p:spPr>
          <a:xfrm>
            <a:off x="713232" y="305409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Desarrollo del sistema</a:t>
            </a:r>
            <a:endParaRPr lang="en-US" sz="950" dirty="0"/>
          </a:p>
        </p:txBody>
      </p:sp>
      <p:sp>
        <p:nvSpPr>
          <p:cNvPr id="22" name="Shape 20"/>
          <p:cNvSpPr/>
          <p:nvPr/>
        </p:nvSpPr>
        <p:spPr>
          <a:xfrm>
            <a:off x="5029200" y="3017520"/>
            <a:ext cx="3360420" cy="256032"/>
          </a:xfrm>
          <a:prstGeom prst="roundRect">
            <a:avLst>
              <a:gd name="adj" fmla="val 14286"/>
            </a:avLst>
          </a:prstGeom>
          <a:solidFill>
            <a:srgbClr val="9B2CFF"/>
          </a:solidFill>
          <a:ln w="12700">
            <a:solidFill>
              <a:srgbClr val="9B2CFF">
                <a:alpha val="0"/>
              </a:srgbClr>
            </a:solidFill>
            <a:prstDash val="solid"/>
          </a:ln>
        </p:spPr>
      </p:sp>
      <p:sp>
        <p:nvSpPr>
          <p:cNvPr id="23" name="Text 21"/>
          <p:cNvSpPr/>
          <p:nvPr/>
        </p:nvSpPr>
        <p:spPr>
          <a:xfrm>
            <a:off x="713232" y="360273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IA, seguridad e integración</a:t>
            </a:r>
            <a:endParaRPr lang="en-US" sz="950" dirty="0"/>
          </a:p>
        </p:txBody>
      </p:sp>
      <p:sp>
        <p:nvSpPr>
          <p:cNvPr id="24" name="Shape 22"/>
          <p:cNvSpPr/>
          <p:nvPr/>
        </p:nvSpPr>
        <p:spPr>
          <a:xfrm>
            <a:off x="6789420" y="3566160"/>
            <a:ext cx="1920240" cy="256032"/>
          </a:xfrm>
          <a:prstGeom prst="roundRect">
            <a:avLst>
              <a:gd name="adj" fmla="val 14286"/>
            </a:avLst>
          </a:prstGeom>
          <a:solidFill>
            <a:srgbClr val="6D28D9"/>
          </a:solidFill>
          <a:ln w="12700">
            <a:solidFill>
              <a:srgbClr val="6D28D9">
                <a:alpha val="0"/>
              </a:srgbClr>
            </a:solidFill>
            <a:prstDash val="solid"/>
          </a:ln>
        </p:spPr>
      </p:sp>
      <p:sp>
        <p:nvSpPr>
          <p:cNvPr id="25" name="Text 23"/>
          <p:cNvSpPr/>
          <p:nvPr/>
        </p:nvSpPr>
        <p:spPr>
          <a:xfrm>
            <a:off x="713232" y="415137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Pruebas y validación</a:t>
            </a:r>
            <a:endParaRPr lang="en-US" sz="950" dirty="0"/>
          </a:p>
        </p:txBody>
      </p:sp>
      <p:sp>
        <p:nvSpPr>
          <p:cNvPr id="26" name="Shape 24"/>
          <p:cNvSpPr/>
          <p:nvPr/>
        </p:nvSpPr>
        <p:spPr>
          <a:xfrm>
            <a:off x="8149590" y="4114800"/>
            <a:ext cx="1760220" cy="256032"/>
          </a:xfrm>
          <a:prstGeom prst="roundRect">
            <a:avLst>
              <a:gd name="adj" fmla="val 14286"/>
            </a:avLst>
          </a:prstGeom>
          <a:solidFill>
            <a:srgbClr val="9B2CFF"/>
          </a:solidFill>
          <a:ln w="12700">
            <a:solidFill>
              <a:srgbClr val="9B2CFF">
                <a:alpha val="0"/>
              </a:srgbClr>
            </a:solidFill>
            <a:prstDash val="solid"/>
          </a:ln>
        </p:spPr>
      </p:sp>
      <p:sp>
        <p:nvSpPr>
          <p:cNvPr id="27" name="Text 25"/>
          <p:cNvSpPr/>
          <p:nvPr/>
        </p:nvSpPr>
        <p:spPr>
          <a:xfrm>
            <a:off x="713232" y="4700016"/>
            <a:ext cx="2057400" cy="155448"/>
          </a:xfrm>
          <a:prstGeom prst="rect">
            <a:avLst/>
          </a:prstGeom>
          <a:noFill/>
          <a:ln/>
        </p:spPr>
        <p:txBody>
          <a:bodyPr wrap="square" lIns="0" tIns="0" rIns="0" bIns="0" rtlCol="0" anchor="ctr">
            <a:normAutofit/>
          </a:bodyPr>
          <a:lstStyle/>
          <a:p>
            <a:pPr indent="0" marL="0">
              <a:buNone/>
            </a:pPr>
            <a:r>
              <a:rPr lang="en-US" sz="950" b="1" dirty="0">
                <a:solidFill>
                  <a:srgbClr val="D2CADC"/>
                </a:solidFill>
                <a:latin typeface="Manrope" pitchFamily="34" charset="0"/>
                <a:ea typeface="Manrope" pitchFamily="34" charset="-122"/>
                <a:cs typeface="Manrope" pitchFamily="34" charset="-120"/>
              </a:rPr>
              <a:t>Documentación y cierre</a:t>
            </a:r>
            <a:endParaRPr lang="en-US" sz="950" dirty="0"/>
          </a:p>
        </p:txBody>
      </p:sp>
      <p:sp>
        <p:nvSpPr>
          <p:cNvPr id="28" name="Shape 26"/>
          <p:cNvSpPr/>
          <p:nvPr/>
        </p:nvSpPr>
        <p:spPr>
          <a:xfrm>
            <a:off x="8789670" y="4663440"/>
            <a:ext cx="1680210" cy="256032"/>
          </a:xfrm>
          <a:prstGeom prst="roundRect">
            <a:avLst>
              <a:gd name="adj" fmla="val 14286"/>
            </a:avLst>
          </a:prstGeom>
          <a:solidFill>
            <a:srgbClr val="6D28D9"/>
          </a:solidFill>
          <a:ln w="12700">
            <a:solidFill>
              <a:srgbClr val="6D28D9">
                <a:alpha val="0"/>
              </a:srgbClr>
            </a:solidFill>
            <a:prstDash val="solid"/>
          </a:ln>
        </p:spPr>
      </p:sp>
      <p:sp>
        <p:nvSpPr>
          <p:cNvPr id="29" name="Text 27"/>
          <p:cNvSpPr/>
          <p:nvPr/>
        </p:nvSpPr>
        <p:spPr>
          <a:xfrm>
            <a:off x="841248" y="5486400"/>
            <a:ext cx="10424160" cy="237744"/>
          </a:xfrm>
          <a:prstGeom prst="rect">
            <a:avLst/>
          </a:prstGeom>
          <a:noFill/>
          <a:ln/>
        </p:spPr>
        <p:txBody>
          <a:bodyPr wrap="square" lIns="0" tIns="0" rIns="0" bIns="0" rtlCol="0" anchor="ctr">
            <a:normAutofit/>
          </a:bodyPr>
          <a:lstStyle/>
          <a:p>
            <a:pPr algn="ctr" indent="0" marL="0">
              <a:buNone/>
            </a:pPr>
            <a:r>
              <a:rPr lang="en-US" sz="1300" b="1" dirty="0">
                <a:solidFill>
                  <a:srgbClr val="D2CADC"/>
                </a:solidFill>
                <a:latin typeface="Manrope" pitchFamily="34" charset="0"/>
                <a:ea typeface="Manrope" pitchFamily="34" charset="-122"/>
                <a:cs typeface="Manrope" pitchFamily="34" charset="-120"/>
              </a:rPr>
              <a:t>Secuencia: diagnóstico → diseño → desarrollo incremental → IA y seguridad → pruebas → cierre documental.</a:t>
            </a:r>
            <a:endParaRPr lang="en-US" sz="1300" dirty="0"/>
          </a:p>
        </p:txBody>
      </p:sp>
      <p:pic>
        <p:nvPicPr>
          <p:cNvPr id="30" name="Image 0" descr="/mnt/data/clinia-logo(1).png">    </p:cNvPr>
          <p:cNvPicPr>
            <a:picLocks noChangeAspect="1"/>
          </p:cNvPicPr>
          <p:nvPr/>
        </p:nvPicPr>
        <p:blipFill>
          <a:blip r:embed="rId1">
            <a:alphaModFix amt="82000"/>
          </a:blip>
          <a:stretch>
            <a:fillRect/>
          </a:stretch>
        </p:blipFill>
        <p:spPr>
          <a:xfrm>
            <a:off x="475488" y="6327648"/>
            <a:ext cx="219456" cy="219456"/>
          </a:xfrm>
          <a:prstGeom prst="rect">
            <a:avLst/>
          </a:prstGeom>
        </p:spPr>
      </p:pic>
      <p:sp>
        <p:nvSpPr>
          <p:cNvPr id="31" name="Text 28"/>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32" name="Text 29"/>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11</a:t>
            </a:r>
            <a:endParaRPr lang="en-US" sz="800" dirty="0"/>
          </a:p>
        </p:txBody>
      </p:sp>
      <p:sp>
        <p:nvSpPr>
          <p:cNvPr id="33" name="Shape 30"/>
          <p:cNvSpPr/>
          <p:nvPr/>
        </p:nvSpPr>
        <p:spPr>
          <a:xfrm>
            <a:off x="475488" y="6181344"/>
            <a:ext cx="11247120" cy="0"/>
          </a:xfrm>
          <a:prstGeom prst="line">
            <a:avLst/>
          </a:prstGeom>
          <a:noFill/>
          <a:ln w="8890">
            <a:solidFill>
              <a:srgbClr val="2B2237">
                <a:alpha val="75000"/>
              </a:srgbClr>
            </a:solidFill>
            <a:prstDash val="solid"/>
          </a:ln>
        </p:spPr>
      </p:sp>
      <p:sp>
        <p:nvSpPr>
          <p:cNvPr id="34" name="Text 31"/>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cronograma</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60B"/>
        </a:solidFill>
      </p:bgPr>
    </p:bg>
    <p:spTree>
      <p:nvGrpSpPr>
        <p:cNvPr id="1" name=""/>
        <p:cNvGrpSpPr/>
        <p:nvPr/>
      </p:nvGrpSpPr>
      <p:grpSpPr>
        <a:xfrm>
          <a:off x="0" y="0"/>
          <a:ext cx="0" cy="0"/>
          <a:chOff x="0" y="0"/>
          <a:chExt cx="0" cy="0"/>
        </a:xfrm>
      </p:grpSpPr>
      <p:sp>
        <p:nvSpPr>
          <p:cNvPr id="2" name="Shape 0"/>
          <p:cNvSpPr/>
          <p:nvPr/>
        </p:nvSpPr>
        <p:spPr>
          <a:xfrm rot="1080000">
            <a:off x="9784080" y="137160"/>
            <a:ext cx="2148840" cy="2148840"/>
          </a:xfrm>
          <a:prstGeom prst="arc">
            <a:avLst/>
          </a:prstGeom>
          <a:noFill/>
          <a:ln w="38100">
            <a:solidFill>
              <a:srgbClr val="9B2CFF">
                <a:alpha val="22000"/>
              </a:srgbClr>
            </a:solidFill>
            <a:prstDash val="solid"/>
          </a:ln>
        </p:spPr>
      </p:sp>
      <p:sp>
        <p:nvSpPr>
          <p:cNvPr id="3" name="Shape 1"/>
          <p:cNvSpPr/>
          <p:nvPr/>
        </p:nvSpPr>
        <p:spPr>
          <a:xfrm rot="6900000">
            <a:off x="109728" y="5074920"/>
            <a:ext cx="1417320" cy="1417320"/>
          </a:xfrm>
          <a:prstGeom prst="arc">
            <a:avLst/>
          </a:prstGeom>
          <a:noFill/>
          <a:ln w="38100">
            <a:solidFill>
              <a:srgbClr val="6D28D9">
                <a:alpha val="17000"/>
              </a:srgbClr>
            </a:solidFill>
            <a:prstDash val="solid"/>
          </a:ln>
        </p:spPr>
      </p:sp>
      <p:sp>
        <p:nvSpPr>
          <p:cNvPr id="4" name="Text 2"/>
          <p:cNvSpPr/>
          <p:nvPr/>
        </p:nvSpPr>
        <p:spPr>
          <a:xfrm>
            <a:off x="658368" y="493776"/>
            <a:ext cx="7635240" cy="438912"/>
          </a:xfrm>
          <a:prstGeom prst="rect">
            <a:avLst/>
          </a:prstGeom>
          <a:noFill/>
          <a:ln/>
        </p:spPr>
        <p:txBody>
          <a:bodyPr wrap="square" lIns="0" tIns="0" rIns="0" bIns="0" rtlCol="0" anchor="ctr">
            <a:normAutofit/>
          </a:bodyPr>
          <a:lstStyle/>
          <a:p>
            <a:pPr indent="0" marL="0">
              <a:buNone/>
            </a:pPr>
            <a:r>
              <a:rPr lang="en-US" sz="2800" b="1" dirty="0">
                <a:solidFill>
                  <a:srgbClr val="D2CADC"/>
                </a:solidFill>
                <a:latin typeface="Manrope" pitchFamily="34" charset="0"/>
                <a:ea typeface="Manrope" pitchFamily="34" charset="-122"/>
                <a:cs typeface="Manrope" pitchFamily="34" charset="-120"/>
              </a:rPr>
              <a:t>Cierre de defensa</a:t>
            </a:r>
            <a:endParaRPr lang="en-US" sz="2800" dirty="0"/>
          </a:p>
        </p:txBody>
      </p:sp>
      <p:sp>
        <p:nvSpPr>
          <p:cNvPr id="5" name="Text 3"/>
          <p:cNvSpPr/>
          <p:nvPr/>
        </p:nvSpPr>
        <p:spPr>
          <a:xfrm>
            <a:off x="658368" y="960120"/>
            <a:ext cx="7909560" cy="256032"/>
          </a:xfrm>
          <a:prstGeom prst="rect">
            <a:avLst/>
          </a:prstGeom>
          <a:noFill/>
          <a:ln/>
        </p:spPr>
        <p:txBody>
          <a:bodyPr wrap="square" lIns="0" tIns="0" rIns="0" bIns="0" rtlCol="0" anchor="ctr">
            <a:normAutofit/>
          </a:bodyPr>
          <a:lstStyle/>
          <a:p>
            <a:pPr indent="0" marL="0">
              <a:buNone/>
            </a:pPr>
            <a:r>
              <a:rPr lang="en-US" sz="1050" dirty="0">
                <a:solidFill>
                  <a:srgbClr val="9B91A8"/>
                </a:solidFill>
                <a:latin typeface="Manrope" pitchFamily="34" charset="0"/>
                <a:ea typeface="Manrope" pitchFamily="34" charset="-122"/>
                <a:cs typeface="Manrope" pitchFamily="34" charset="-120"/>
              </a:rPr>
              <a:t>Lo que el perfil propone demostrar.</a:t>
            </a:r>
            <a:endParaRPr lang="en-US" sz="1050" dirty="0"/>
          </a:p>
        </p:txBody>
      </p:sp>
      <p:sp>
        <p:nvSpPr>
          <p:cNvPr id="6" name="Shape 4"/>
          <p:cNvSpPr/>
          <p:nvPr/>
        </p:nvSpPr>
        <p:spPr>
          <a:xfrm>
            <a:off x="658368" y="1307592"/>
            <a:ext cx="2240280" cy="0"/>
          </a:xfrm>
          <a:prstGeom prst="line">
            <a:avLst/>
          </a:prstGeom>
          <a:noFill/>
          <a:ln w="27940">
            <a:solidFill>
              <a:srgbClr val="9B2CFF"/>
            </a:solidFill>
            <a:prstDash val="solid"/>
            <a:headEnd type="none"/>
            <a:tailEnd type="none"/>
          </a:ln>
        </p:spPr>
      </p:sp>
      <p:pic>
        <p:nvPicPr>
          <p:cNvPr id="7" name="Image 0" descr="/mnt/data/clinia-logo(1).png">    </p:cNvPr>
          <p:cNvPicPr>
            <a:picLocks noChangeAspect="1"/>
          </p:cNvPicPr>
          <p:nvPr/>
        </p:nvPicPr>
        <p:blipFill>
          <a:blip r:embed="rId1">
            <a:alphaModFix amt="96000"/>
          </a:blip>
          <a:stretch>
            <a:fillRect/>
          </a:stretch>
        </p:blipFill>
        <p:spPr>
          <a:xfrm>
            <a:off x="8138160" y="1389888"/>
            <a:ext cx="2084832" cy="2084832"/>
          </a:xfrm>
          <a:prstGeom prst="rect">
            <a:avLst/>
          </a:prstGeom>
        </p:spPr>
      </p:pic>
      <p:sp>
        <p:nvSpPr>
          <p:cNvPr id="8" name="Shape 5"/>
          <p:cNvSpPr/>
          <p:nvPr/>
        </p:nvSpPr>
        <p:spPr>
          <a:xfrm>
            <a:off x="822960" y="1664208"/>
            <a:ext cx="6035040" cy="3429000"/>
          </a:xfrm>
          <a:prstGeom prst="roundRect">
            <a:avLst>
              <a:gd name="adj" fmla="val 2667"/>
            </a:avLst>
          </a:prstGeom>
          <a:solidFill>
            <a:srgbClr val="15111D"/>
          </a:solidFill>
          <a:ln w="12700">
            <a:solidFill>
              <a:srgbClr val="2B2237"/>
            </a:solidFill>
            <a:prstDash val="solid"/>
          </a:ln>
        </p:spPr>
      </p:sp>
      <p:sp>
        <p:nvSpPr>
          <p:cNvPr id="9" name="Text 6"/>
          <p:cNvSpPr/>
          <p:nvPr/>
        </p:nvSpPr>
        <p:spPr>
          <a:xfrm>
            <a:off x="1133856" y="1938528"/>
            <a:ext cx="2194560" cy="228600"/>
          </a:xfrm>
          <a:prstGeom prst="rect">
            <a:avLst/>
          </a:prstGeom>
          <a:noFill/>
          <a:ln/>
        </p:spPr>
        <p:txBody>
          <a:bodyPr wrap="square" lIns="0" tIns="0" rIns="0" bIns="0" rtlCol="0" anchor="ctr"/>
          <a:lstStyle/>
          <a:p>
            <a:pPr indent="0" marL="0">
              <a:buNone/>
            </a:pPr>
            <a:r>
              <a:rPr lang="en-US" sz="1000" b="1" dirty="0">
                <a:solidFill>
                  <a:srgbClr val="C084FC"/>
                </a:solidFill>
                <a:latin typeface="Manrope" pitchFamily="34" charset="0"/>
                <a:ea typeface="Manrope" pitchFamily="34" charset="-122"/>
                <a:cs typeface="Manrope" pitchFamily="34" charset="-120"/>
              </a:rPr>
              <a:t>Tesis defendible</a:t>
            </a:r>
            <a:endParaRPr lang="en-US" sz="1000" dirty="0"/>
          </a:p>
        </p:txBody>
      </p:sp>
      <p:sp>
        <p:nvSpPr>
          <p:cNvPr id="10" name="Text 7"/>
          <p:cNvSpPr/>
          <p:nvPr/>
        </p:nvSpPr>
        <p:spPr>
          <a:xfrm>
            <a:off x="1133856" y="2359152"/>
            <a:ext cx="5394960" cy="1325880"/>
          </a:xfrm>
          <a:prstGeom prst="rect">
            <a:avLst/>
          </a:prstGeom>
          <a:noFill/>
          <a:ln/>
        </p:spPr>
        <p:txBody>
          <a:bodyPr wrap="square" lIns="0" tIns="0" rIns="0" bIns="0" rtlCol="0" anchor="ctr">
            <a:normAutofit/>
          </a:bodyPr>
          <a:lstStyle/>
          <a:p>
            <a:pPr indent="0" marL="0">
              <a:buNone/>
            </a:pPr>
            <a:r>
              <a:rPr lang="en-US" sz="2100" b="1" dirty="0">
                <a:solidFill>
                  <a:srgbClr val="D2CADC"/>
                </a:solidFill>
                <a:latin typeface="Manrope" pitchFamily="34" charset="0"/>
                <a:ea typeface="Manrope" pitchFamily="34" charset="-122"/>
                <a:cs typeface="Manrope" pitchFamily="34" charset="-120"/>
              </a:rPr>
              <a:t>Es viable construir un prototipo multiplataforma que centralice información médica personal, mejore su consulta longitudinal y use IA de forma limitada, trazable y no diagnóstica.</a:t>
            </a:r>
            <a:endParaRPr lang="en-US" sz="2100" dirty="0"/>
          </a:p>
        </p:txBody>
      </p:sp>
      <p:sp>
        <p:nvSpPr>
          <p:cNvPr id="11" name="Shape 8"/>
          <p:cNvSpPr/>
          <p:nvPr/>
        </p:nvSpPr>
        <p:spPr>
          <a:xfrm>
            <a:off x="1152144" y="4114800"/>
            <a:ext cx="82296" cy="82296"/>
          </a:xfrm>
          <a:prstGeom prst="ellipse">
            <a:avLst/>
          </a:prstGeom>
          <a:solidFill>
            <a:srgbClr val="9B2CFF"/>
          </a:solidFill>
          <a:ln w="12700">
            <a:solidFill>
              <a:srgbClr val="9B2CFF">
                <a:alpha val="0"/>
              </a:srgbClr>
            </a:solidFill>
            <a:prstDash val="solid"/>
          </a:ln>
        </p:spPr>
      </p:sp>
      <p:sp>
        <p:nvSpPr>
          <p:cNvPr id="12" name="Text 9"/>
          <p:cNvSpPr/>
          <p:nvPr/>
        </p:nvSpPr>
        <p:spPr>
          <a:xfrm>
            <a:off x="1335024" y="4041648"/>
            <a:ext cx="4983480" cy="292608"/>
          </a:xfrm>
          <a:prstGeom prst="rect">
            <a:avLst/>
          </a:prstGeom>
          <a:noFill/>
          <a:ln/>
        </p:spPr>
        <p:txBody>
          <a:bodyPr wrap="square" lIns="0" tIns="0" rIns="0" bIns="0" rtlCol="0" anchor="ctr">
            <a:normAutofit/>
          </a:bodyPr>
          <a:lstStyle/>
          <a:p>
            <a:pPr algn="l" indent="0" marL="0">
              <a:buNone/>
            </a:pPr>
            <a:r>
              <a:rPr lang="en-US" sz="1250" dirty="0">
                <a:solidFill>
                  <a:srgbClr val="D2CADC"/>
                </a:solidFill>
                <a:latin typeface="Manrope" pitchFamily="34" charset="0"/>
                <a:ea typeface="Manrope" pitchFamily="34" charset="-122"/>
                <a:cs typeface="Manrope" pitchFamily="34" charset="-120"/>
              </a:rPr>
              <a:t>Aporte: integración de historial personal, documentos e IA informativa.</a:t>
            </a:r>
            <a:endParaRPr lang="en-US" sz="1250" dirty="0"/>
          </a:p>
        </p:txBody>
      </p:sp>
      <p:sp>
        <p:nvSpPr>
          <p:cNvPr id="13" name="Shape 10"/>
          <p:cNvSpPr/>
          <p:nvPr/>
        </p:nvSpPr>
        <p:spPr>
          <a:xfrm>
            <a:off x="1152144" y="4462272"/>
            <a:ext cx="82296" cy="82296"/>
          </a:xfrm>
          <a:prstGeom prst="ellipse">
            <a:avLst/>
          </a:prstGeom>
          <a:solidFill>
            <a:srgbClr val="9B2CFF"/>
          </a:solidFill>
          <a:ln w="12700">
            <a:solidFill>
              <a:srgbClr val="9B2CFF">
                <a:alpha val="0"/>
              </a:srgbClr>
            </a:solidFill>
            <a:prstDash val="solid"/>
          </a:ln>
        </p:spPr>
      </p:sp>
      <p:sp>
        <p:nvSpPr>
          <p:cNvPr id="14" name="Text 11"/>
          <p:cNvSpPr/>
          <p:nvPr/>
        </p:nvSpPr>
        <p:spPr>
          <a:xfrm>
            <a:off x="1335024" y="4389120"/>
            <a:ext cx="4983480" cy="292608"/>
          </a:xfrm>
          <a:prstGeom prst="rect">
            <a:avLst/>
          </a:prstGeom>
          <a:noFill/>
          <a:ln/>
        </p:spPr>
        <p:txBody>
          <a:bodyPr wrap="square" lIns="0" tIns="0" rIns="0" bIns="0" rtlCol="0" anchor="ctr">
            <a:normAutofit/>
          </a:bodyPr>
          <a:lstStyle/>
          <a:p>
            <a:pPr algn="l" indent="0" marL="0">
              <a:buNone/>
            </a:pPr>
            <a:r>
              <a:rPr lang="en-US" sz="1250" dirty="0">
                <a:solidFill>
                  <a:srgbClr val="D2CADC"/>
                </a:solidFill>
                <a:latin typeface="Manrope" pitchFamily="34" charset="0"/>
                <a:ea typeface="Manrope" pitchFamily="34" charset="-122"/>
                <a:cs typeface="Manrope" pitchFamily="34" charset="-120"/>
              </a:rPr>
              <a:t>Límite clave: no sustituye diagnóstico ni historia clínica oficial.</a:t>
            </a:r>
            <a:endParaRPr lang="en-US" sz="1250" dirty="0"/>
          </a:p>
        </p:txBody>
      </p:sp>
      <p:sp>
        <p:nvSpPr>
          <p:cNvPr id="15" name="Shape 12"/>
          <p:cNvSpPr/>
          <p:nvPr/>
        </p:nvSpPr>
        <p:spPr>
          <a:xfrm>
            <a:off x="1152144" y="4809744"/>
            <a:ext cx="82296" cy="82296"/>
          </a:xfrm>
          <a:prstGeom prst="ellipse">
            <a:avLst/>
          </a:prstGeom>
          <a:solidFill>
            <a:srgbClr val="9B2CFF"/>
          </a:solidFill>
          <a:ln w="12700">
            <a:solidFill>
              <a:srgbClr val="9B2CFF">
                <a:alpha val="0"/>
              </a:srgbClr>
            </a:solidFill>
            <a:prstDash val="solid"/>
          </a:ln>
        </p:spPr>
      </p:sp>
      <p:sp>
        <p:nvSpPr>
          <p:cNvPr id="16" name="Text 13"/>
          <p:cNvSpPr/>
          <p:nvPr/>
        </p:nvSpPr>
        <p:spPr>
          <a:xfrm>
            <a:off x="1335024" y="4736592"/>
            <a:ext cx="4983480" cy="292608"/>
          </a:xfrm>
          <a:prstGeom prst="rect">
            <a:avLst/>
          </a:prstGeom>
          <a:noFill/>
          <a:ln/>
        </p:spPr>
        <p:txBody>
          <a:bodyPr wrap="square" lIns="0" tIns="0" rIns="0" bIns="0" rtlCol="0" anchor="ctr">
            <a:normAutofit/>
          </a:bodyPr>
          <a:lstStyle/>
          <a:p>
            <a:pPr algn="l" indent="0" marL="0">
              <a:buNone/>
            </a:pPr>
            <a:r>
              <a:rPr lang="en-US" sz="1250" dirty="0">
                <a:solidFill>
                  <a:srgbClr val="D2CADC"/>
                </a:solidFill>
                <a:latin typeface="Manrope" pitchFamily="34" charset="0"/>
                <a:ea typeface="Manrope" pitchFamily="34" charset="-122"/>
                <a:cs typeface="Manrope" pitchFamily="34" charset="-120"/>
              </a:rPr>
              <a:t>Validación: usabilidad, funcionamiento, comprensión y seguridad.</a:t>
            </a:r>
            <a:endParaRPr lang="en-US" sz="1250" dirty="0"/>
          </a:p>
        </p:txBody>
      </p:sp>
      <p:sp>
        <p:nvSpPr>
          <p:cNvPr id="17" name="Text 14"/>
          <p:cNvSpPr/>
          <p:nvPr/>
        </p:nvSpPr>
        <p:spPr>
          <a:xfrm>
            <a:off x="7370064" y="4005072"/>
            <a:ext cx="3657600" cy="384048"/>
          </a:xfrm>
          <a:prstGeom prst="rect">
            <a:avLst/>
          </a:prstGeom>
          <a:noFill/>
          <a:ln/>
        </p:spPr>
        <p:txBody>
          <a:bodyPr wrap="square" lIns="0" tIns="0" rIns="0" bIns="0" rtlCol="0" anchor="ctr">
            <a:normAutofit/>
          </a:bodyPr>
          <a:lstStyle/>
          <a:p>
            <a:pPr algn="ctr" indent="0" marL="0">
              <a:buNone/>
            </a:pPr>
            <a:r>
              <a:rPr lang="en-US" sz="2800" b="1" dirty="0">
                <a:solidFill>
                  <a:srgbClr val="9B2CFF"/>
                </a:solidFill>
                <a:latin typeface="Manrope" pitchFamily="34" charset="0"/>
                <a:ea typeface="Manrope" pitchFamily="34" charset="-122"/>
                <a:cs typeface="Manrope" pitchFamily="34" charset="-120"/>
              </a:rPr>
              <a:t>PREGUNTAS</a:t>
            </a:r>
            <a:endParaRPr lang="en-US" sz="2800" dirty="0"/>
          </a:p>
        </p:txBody>
      </p:sp>
      <p:sp>
        <p:nvSpPr>
          <p:cNvPr id="18" name="Text 15"/>
          <p:cNvSpPr/>
          <p:nvPr/>
        </p:nvSpPr>
        <p:spPr>
          <a:xfrm>
            <a:off x="7360920" y="4498848"/>
            <a:ext cx="3657600" cy="256032"/>
          </a:xfrm>
          <a:prstGeom prst="rect">
            <a:avLst/>
          </a:prstGeom>
          <a:noFill/>
          <a:ln/>
        </p:spPr>
        <p:txBody>
          <a:bodyPr wrap="square" lIns="0" tIns="0" rIns="0" bIns="0" rtlCol="0" anchor="ctr"/>
          <a:lstStyle/>
          <a:p>
            <a:pPr algn="ctr" indent="0" marL="0">
              <a:buNone/>
            </a:pPr>
            <a:r>
              <a:rPr lang="en-US" sz="1200" dirty="0">
                <a:solidFill>
                  <a:srgbClr val="9B91A8"/>
                </a:solidFill>
                <a:latin typeface="Manrope" pitchFamily="34" charset="0"/>
                <a:ea typeface="Manrope" pitchFamily="34" charset="-122"/>
                <a:cs typeface="Manrope" pitchFamily="34" charset="-120"/>
              </a:rPr>
              <a:t>Gracias.</a:t>
            </a:r>
            <a:endParaRPr lang="en-US" sz="1200" dirty="0"/>
          </a:p>
        </p:txBody>
      </p:sp>
      <p:pic>
        <p:nvPicPr>
          <p:cNvPr id="19" name="Image 1" descr="/mnt/data/clinia-logo(1).png">    </p:cNvPr>
          <p:cNvPicPr>
            <a:picLocks noChangeAspect="1"/>
          </p:cNvPicPr>
          <p:nvPr/>
        </p:nvPicPr>
        <p:blipFill>
          <a:blip r:embed="rId2">
            <a:alphaModFix amt="82000"/>
          </a:blip>
          <a:stretch>
            <a:fillRect/>
          </a:stretch>
        </p:blipFill>
        <p:spPr>
          <a:xfrm>
            <a:off x="475488" y="6327648"/>
            <a:ext cx="219456" cy="219456"/>
          </a:xfrm>
          <a:prstGeom prst="rect">
            <a:avLst/>
          </a:prstGeom>
        </p:spPr>
      </p:pic>
      <p:sp>
        <p:nvSpPr>
          <p:cNvPr id="20" name="Text 16"/>
          <p:cNvSpPr/>
          <p:nvPr/>
        </p:nvSpPr>
        <p:spPr>
          <a:xfrm>
            <a:off x="768096" y="6309360"/>
            <a:ext cx="1645920" cy="164592"/>
          </a:xfrm>
          <a:prstGeom prst="rect">
            <a:avLst/>
          </a:prstGeom>
          <a:noFill/>
          <a:ln/>
        </p:spPr>
        <p:txBody>
          <a:bodyPr wrap="square" lIns="0" tIns="0" rIns="0" bIns="0" rtlCol="0" anchor="ctr"/>
          <a:lstStyle/>
          <a:p>
            <a:pPr indent="0" marL="0">
              <a:buNone/>
            </a:pPr>
            <a:r>
              <a:rPr lang="en-US" sz="680" b="1" dirty="0">
                <a:solidFill>
                  <a:srgbClr val="9B91A8"/>
                </a:solidFill>
                <a:latin typeface="Manrope" pitchFamily="34" charset="0"/>
                <a:ea typeface="Manrope" pitchFamily="34" charset="-122"/>
                <a:cs typeface="Manrope" pitchFamily="34" charset="-120"/>
              </a:rPr>
              <a:t>CLINIA</a:t>
            </a:r>
            <a:endParaRPr lang="en-US" sz="680" dirty="0"/>
          </a:p>
        </p:txBody>
      </p:sp>
      <p:sp>
        <p:nvSpPr>
          <p:cNvPr id="21" name="Text 17"/>
          <p:cNvSpPr/>
          <p:nvPr/>
        </p:nvSpPr>
        <p:spPr>
          <a:xfrm>
            <a:off x="11356848" y="6291072"/>
            <a:ext cx="365760" cy="201168"/>
          </a:xfrm>
          <a:prstGeom prst="rect">
            <a:avLst/>
          </a:prstGeom>
          <a:noFill/>
          <a:ln/>
        </p:spPr>
        <p:txBody>
          <a:bodyPr wrap="square" lIns="0" tIns="0" rIns="0" bIns="0" rtlCol="0" anchor="ctr"/>
          <a:lstStyle/>
          <a:p>
            <a:pPr algn="r" indent="0" marL="0">
              <a:buNone/>
            </a:pPr>
            <a:r>
              <a:rPr lang="en-US" sz="800" b="1" dirty="0">
                <a:solidFill>
                  <a:srgbClr val="6F637A"/>
                </a:solidFill>
                <a:latin typeface="Manrope" pitchFamily="34" charset="0"/>
                <a:ea typeface="Manrope" pitchFamily="34" charset="-122"/>
                <a:cs typeface="Manrope" pitchFamily="34" charset="-120"/>
              </a:rPr>
              <a:t>12</a:t>
            </a:r>
            <a:endParaRPr lang="en-US" sz="800" dirty="0"/>
          </a:p>
        </p:txBody>
      </p:sp>
      <p:sp>
        <p:nvSpPr>
          <p:cNvPr id="22" name="Shape 18"/>
          <p:cNvSpPr/>
          <p:nvPr/>
        </p:nvSpPr>
        <p:spPr>
          <a:xfrm>
            <a:off x="475488" y="6181344"/>
            <a:ext cx="11247120" cy="0"/>
          </a:xfrm>
          <a:prstGeom prst="line">
            <a:avLst/>
          </a:prstGeom>
          <a:noFill/>
          <a:ln w="8890">
            <a:solidFill>
              <a:srgbClr val="2B2237">
                <a:alpha val="75000"/>
              </a:srgbClr>
            </a:solidFill>
            <a:prstDash val="solid"/>
          </a:ln>
        </p:spPr>
      </p:sp>
      <p:sp>
        <p:nvSpPr>
          <p:cNvPr id="23" name="Text 19"/>
          <p:cNvSpPr/>
          <p:nvPr/>
        </p:nvSpPr>
        <p:spPr>
          <a:xfrm>
            <a:off x="8321040" y="6309360"/>
            <a:ext cx="2834640" cy="164592"/>
          </a:xfrm>
          <a:prstGeom prst="rect">
            <a:avLst/>
          </a:prstGeom>
          <a:noFill/>
          <a:ln/>
        </p:spPr>
        <p:txBody>
          <a:bodyPr wrap="square" lIns="0" tIns="0" rIns="0" bIns="0" rtlCol="0" anchor="ctr">
            <a:normAutofit/>
          </a:bodyPr>
          <a:lstStyle/>
          <a:p>
            <a:pPr algn="r" indent="0" marL="0">
              <a:buNone/>
            </a:pPr>
            <a:r>
              <a:rPr lang="en-US" sz="650" dirty="0">
                <a:solidFill>
                  <a:srgbClr val="6F637A"/>
                </a:solidFill>
                <a:latin typeface="Manrope" pitchFamily="34" charset="0"/>
                <a:ea typeface="Manrope" pitchFamily="34" charset="-122"/>
                <a:cs typeface="Manrope" pitchFamily="34" charset="-120"/>
              </a:rPr>
              <a:t>Fuente: síntesis del perfil</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Universidad del Valle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Clinia - Perfil de Proyecto de Grado</dc:title>
  <dc:subject>Defensa de perfil de proyecto de grado</dc:subject>
  <dc:creator>OpenAI</dc:creator>
  <cp:lastModifiedBy>OpenAI</cp:lastModifiedBy>
  <cp:revision>1</cp:revision>
  <dcterms:created xsi:type="dcterms:W3CDTF">2026-09-16T11:25:55Z</dcterms:created>
  <dcterms:modified xsi:type="dcterms:W3CDTF">2026-09-16T11:25:55Z</dcterms:modified>
</cp:coreProperties>
</file>